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5afc22c23a3448c" /><Relationship Type="http://schemas.openxmlformats.org/officeDocument/2006/relationships/extended-properties" Target="/docProps/app.xml" Id="R5bd33d8a9ad544c1" /><Relationship Type="http://schemas.openxmlformats.org/officeDocument/2006/relationships/officeDocument" Target="/ppt/presentation.xml" Id="R982b61f04ab24b6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914bb54a9e64488"/>
  </p:sldMasterIdLst>
  <p:notesMasterIdLst>
    <p:notesMasterId xmlns:r="http://schemas.openxmlformats.org/officeDocument/2006/relationships" r:id="Re6b10435427e4391"/>
  </p:notesMasterIdLst>
  <p:sldIdLst>
    <p:sldId xmlns:r="http://schemas.openxmlformats.org/officeDocument/2006/relationships" id="256" r:id="R58efd946eaea4fa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ca8e54d20cf45b9" /><Relationship Type="http://schemas.openxmlformats.org/officeDocument/2006/relationships/slideMaster" Target="/ppt/slideMasters/slideMaster1.xml" Id="R0914bb54a9e64488" /><Relationship Type="http://schemas.openxmlformats.org/officeDocument/2006/relationships/notesMaster" Target="/ppt/notesMasters/notesMaster1.xml" Id="Re6b10435427e4391" /><Relationship Type="http://schemas.openxmlformats.org/officeDocument/2006/relationships/presProps" Target="/ppt/presProps.xml" Id="R0367b13386564d8a" /><Relationship Type="http://schemas.openxmlformats.org/officeDocument/2006/relationships/tableStyles" Target="/ppt/tableStyles.xml" Id="R39f18167d60942bb" /><Relationship Type="http://schemas.openxmlformats.org/officeDocument/2006/relationships/slide" Target="/ppt/slides/slide1.xml" Id="R58efd946eaea4fa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b554600176240c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2c94fb9487349f9" /><Relationship Type="http://schemas.openxmlformats.org/officeDocument/2006/relationships/notesMaster" Target="/ppt/notesMasters/notesMaster1.xml" Id="Reba05171f83147e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：20261008-项目文档_修改版(3).docx。风格参考：20251211-数智原生、服务智联：面向未来的PaaS云平台-单独新增部分补数据.pptx，第1、2页。页面展示当前可研报告审查痛点和系统总体设计，不宣称所有能力已完成。证据示例为示意，非真实报告检测结果。完整性通过仅表示未发现明显材料残缺，不代表专项审查通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4ecf220a574c6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23cb95134d42a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38fa2428424d3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fb35e5ed574d1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d5a3c20e16480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0913207f3f456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F6522A7-120A-4C03-AD84-A3C582EE57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A1ACDAA-A5BE-4F53-9D10-A8D6755DC02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83525A6-D553-46C2-B560-DCF5B911D4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E7E365B-16F2-485B-AB56-59F9CEA0DF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FE43869-0F2A-4C91-9C40-D1DB56C3C9F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BA09BC2-F80F-4677-A21B-88CCC34348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C9DE590-160C-4A30-A966-289093A6AE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6675B95-51F9-4122-8E94-23D368F8D95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4DD3D70-C4CD-4C2E-A03A-746A16FC80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C2472AB-4490-4544-A14A-B157FADD1AC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19b39c68d994675" /><Relationship Type="http://schemas.openxmlformats.org/officeDocument/2006/relationships/slideLayout" Target="/ppt/slideLayouts/slideLayout1.xml" Id="R564d6110e1e74155" /><Relationship Type="http://schemas.openxmlformats.org/officeDocument/2006/relationships/slideLayout" Target="/ppt/slideLayouts/slideLayout2.xml" Id="R10d3358e481147e2" /><Relationship Type="http://schemas.openxmlformats.org/officeDocument/2006/relationships/slideLayout" Target="/ppt/slideLayouts/slideLayout3.xml" Id="R5af44e41113447b6" /><Relationship Type="http://schemas.openxmlformats.org/officeDocument/2006/relationships/slideLayout" Target="/ppt/slideLayouts/slideLayout4.xml" Id="Re2a2778cb8534f5b" /><Relationship Type="http://schemas.openxmlformats.org/officeDocument/2006/relationships/slideLayout" Target="/ppt/slideLayouts/slideLayout5.xml" Id="Re52a2d4ca9454975" /><Relationship Type="http://schemas.openxmlformats.org/officeDocument/2006/relationships/slideLayout" Target="/ppt/slideLayouts/slideLayout6.xml" Id="R07f7e88023664ad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4d6110e1e74155"/>
    <p:sldLayoutId xmlns:r="http://schemas.openxmlformats.org/officeDocument/2006/relationships" id="2147483650" r:id="R10d3358e481147e2"/>
    <p:sldLayoutId xmlns:r="http://schemas.openxmlformats.org/officeDocument/2006/relationships" id="2147483651" r:id="R5af44e41113447b6"/>
    <p:sldLayoutId xmlns:r="http://schemas.openxmlformats.org/officeDocument/2006/relationships" id="2147483652" r:id="Re2a2778cb8534f5b"/>
    <p:sldLayoutId xmlns:r="http://schemas.openxmlformats.org/officeDocument/2006/relationships" id="2147483653" r:id="Re52a2d4ca9454975"/>
    <p:sldLayoutId xmlns:r="http://schemas.openxmlformats.org/officeDocument/2006/relationships" id="2147483654" r:id="R07f7e88023664ad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ec0738680d43ce" /><Relationship Type="http://schemas.openxmlformats.org/officeDocument/2006/relationships/notesSlide" Target="/ppt/notesSlides/notesSlide1.xml" Id="R08e2472b54554fd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" name="图形-1">
            <a:extLst xmlns:a="http://schemas.openxmlformats.org/drawingml/2006/main">
              <a:ext uri="{FF2B5EF4-FFF2-40B4-BE49-F238E27FC236}">
                <a16:creationId xmlns:a16="http://schemas.microsoft.com/office/drawing/2014/main" id="{3C036693-4DF0-45BF-8FE9-BB51DACA0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54A0"/>
          </a:solidFill>
          <a:ln xmlns:a="http://schemas.openxmlformats.org/drawingml/2006/main" w="0">
            <a:noFill/>
            <a:prstDash val="solid"/>
          </a:ln>
        </p:spPr>
      </p:sp>
      <p:sp xmlns:a="http://schemas.openxmlformats.org/drawingml/2006/main">
        <p:nvSpPr>
          <p:cNvPr id="1048900" name="textbox 908"/>
          <p:cNvSpPr/>
          <p:nvPr/>
        </p:nvSpPr>
        <p:spPr>
          <a:xfrm>
            <a:off x="0" y="0"/>
            <a:ext cx="12192000" cy="7194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0" marR="0" lvl="0" indent="0" algn="l" defTabSz="1219200" rtl="0" eaLnBrk="0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0" marR="0" lvl="0" indent="0" algn="l" defTabSz="1219200" rtl="0" eaLnBrk="0" fontAlgn="auto" latinLnBrk="0" hangingPunct="1">
              <a:lnSpc>
                <a:spcPct val="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24485" marR="0" lvl="0" indent="0" algn="l" defTabSz="1219200" rtl="0" eaLnBrk="0" fontAlgn="auto" latinLnBrk="0" hangingPunct="1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3200" b="1" i="0" u="none" strike="noStrike" kern="0" cap="none" spc="250" normalizeH="0" baseline="0" noProof="0" dirty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4 .</a:t>
            </a:r>
            <a:r>
              <a:rPr kumimoji="0" lang="zh-CN" altLang="en-US" sz="3200" b="1" i="0" u="none" strike="noStrike" kern="0" cap="none" spc="250" normalizeH="0" baseline="0" noProof="0" dirty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最新</a:t>
            </a:r>
            <a:r>
              <a:rPr lang="zh-CN" altLang="en-US" sz="3200" b="1" kern="0" spc="250" noProof="0" dirty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工作与成效</a:t>
            </a:r>
            <a:r>
              <a:rPr kumimoji="0" sz="3200" b="1" i="0" u="none" strike="noStrike" kern="0" cap="none" spc="250" normalizeH="0" baseline="0" noProof="0" dirty="0">
                <a:ln>
                  <a:noFill/>
                </a:ln>
                <a:solidFill>
                  <a:srgbClr val="FFFF00">
                    <a:alpha val="10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</a:t>
            </a:r>
            <a:r>
              <a:rPr kumimoji="0" lang="en-US" altLang="zh-CN" sz="3200" b="1" i="0" u="none" strike="noStrike" kern="0" cap="none" spc="250" normalizeH="0" baseline="0" noProof="0" dirty="0">
                <a:ln>
                  <a:noFill/>
                </a:ln>
                <a:solidFill>
                  <a:srgbClr val="FFFF00">
                    <a:alpha val="10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AI助手</a:t>
            </a:r>
            <a:r>
              <a:rPr kumimoji="0" lang="zh-CN" altLang="en-US" sz="3200" b="1" i="0" u="none" strike="noStrike" kern="0" cap="none" spc="250" normalizeH="0" baseline="0" noProof="0" dirty="0">
                <a:ln>
                  <a:noFill/>
                </a:ln>
                <a:solidFill>
                  <a:srgbClr val="FFFF00">
                    <a:alpha val="10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智能辅助审查</a:t>
            </a:r>
            <a:endParaRPr kumimoji="0" lang="zh-CN" altLang="en-US" sz="3200" b="1" i="0" u="none" strike="noStrike" kern="0" cap="none" spc="250" normalizeH="0" baseline="0" noProof="0" dirty="0">
              <a:ln>
                <a:noFill/>
              </a:ln>
              <a:solidFill>
                <a:srgbClr val="FFFF00">
                  <a:alpha val="100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 xmlns:a="http://schemas.openxmlformats.org/drawingml/2006/main">
        <p:nvSpPr>
          <p:cNvPr id="1048902" name="矩形 55"/>
          <p:cNvSpPr/>
          <p:nvPr/>
        </p:nvSpPr>
        <p:spPr>
          <a:xfrm>
            <a:off x="478838" y="1119862"/>
            <a:ext cx="11234420" cy="193834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25400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 xmlns:a="http://schemas.openxmlformats.org/drawingml/2006/main">
        <p:nvSpPr>
          <p:cNvPr id="1048903" name="Text Box 13"/>
          <p:cNvSpPr txBox="1">
            <a:spLocks noChangeArrowheads="1"/>
          </p:cNvSpPr>
          <p:nvPr/>
        </p:nvSpPr>
        <p:spPr bwMode="auto">
          <a:xfrm>
            <a:off x="551384" y="1171433"/>
            <a:ext cx="2193153" cy="1817966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rgbClr val="155DA5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lt1"/>
                </a:solidFill>
                <a:latin typeface="+mn-lt"/>
                <a:ea typeface="+mn-ea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20000"/>
              </a:lnSpc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 xmlns:a="http://schemas.openxmlformats.org/drawingml/2006/main">
        <p:nvSpPr>
          <p:cNvPr id="1048904" name="Text Box 13"/>
          <p:cNvSpPr txBox="1">
            <a:spLocks noChangeArrowheads="1"/>
          </p:cNvSpPr>
          <p:nvPr/>
        </p:nvSpPr>
        <p:spPr bwMode="auto">
          <a:xfrm>
            <a:off x="2957240" y="1174840"/>
            <a:ext cx="4025275" cy="1814513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rgbClr val="155DA5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lt1"/>
                </a:solidFill>
                <a:latin typeface="+mn-lt"/>
                <a:ea typeface="+mn-ea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20000"/>
              </a:lnSpc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 xmlns:a="http://schemas.openxmlformats.org/drawingml/2006/main">
        <p:nvSpPr>
          <p:cNvPr id="1048905" name="Text Box 13"/>
          <p:cNvSpPr txBox="1">
            <a:spLocks noChangeArrowheads="1"/>
          </p:cNvSpPr>
          <p:nvPr/>
        </p:nvSpPr>
        <p:spPr bwMode="auto">
          <a:xfrm>
            <a:off x="7200229" y="1184436"/>
            <a:ext cx="4016957" cy="1804917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rgbClr val="155DA5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lt1"/>
                </a:solidFill>
                <a:latin typeface="+mn-lt"/>
                <a:ea typeface="+mn-ea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20000"/>
              </a:lnSpc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图形-6">
            <a:extLst xmlns:a="http://schemas.openxmlformats.org/drawingml/2006/main">
              <a:ext uri="{FF2B5EF4-FFF2-40B4-BE49-F238E27FC236}">
                <a16:creationId xmlns:a16="http://schemas.microsoft.com/office/drawing/2014/main" id="{F8B3A2FD-C4F0-4F8F-86C3-6ECDF7E2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752600"/>
            <a:ext cx="190500" cy="504825"/>
          </a:xfrm>
          <a:prstGeom xmlns:a="http://schemas.openxmlformats.org/drawingml/2006/main" prst="rightArrow">
            <a:avLst/>
          </a:prstGeom>
          <a:gradFill xmlns:a="http://schemas.openxmlformats.org/drawingml/2006/main">
            <a:gsLst>
              <a:gs pos="0">
                <a:srgbClr val="A8C9EA"/>
              </a:gs>
              <a:gs pos="100000">
                <a:srgbClr val="155DA5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7" name="图形-7">
            <a:extLst xmlns:a="http://schemas.openxmlformats.org/drawingml/2006/main">
              <a:ext uri="{FF2B5EF4-FFF2-40B4-BE49-F238E27FC236}">
                <a16:creationId xmlns:a16="http://schemas.microsoft.com/office/drawing/2014/main" id="{4EADFD0E-01C5-48C6-AAEA-989145E43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752600"/>
            <a:ext cx="190500" cy="504825"/>
          </a:xfrm>
          <a:prstGeom xmlns:a="http://schemas.openxmlformats.org/drawingml/2006/main" prst="rightArrow">
            <a:avLst/>
          </a:prstGeom>
          <a:gradFill xmlns:a="http://schemas.openxmlformats.org/drawingml/2006/main">
            <a:gsLst>
              <a:gs pos="0">
                <a:srgbClr val="A8C9EA"/>
              </a:gs>
              <a:gs pos="100000">
                <a:srgbClr val="155DA5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8" name="文字-8-多材料人工审查">
            <a:extLst xmlns:a="http://schemas.openxmlformats.org/drawingml/2006/main">
              <a:ext uri="{FF2B5EF4-FFF2-40B4-BE49-F238E27FC236}">
                <a16:creationId xmlns:a16="http://schemas.microsoft.com/office/drawing/2014/main" id="{1CE271DC-10EB-4C21-86BD-8CE5247A4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47775"/>
            <a:ext cx="2000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多材料人工审查</a:t>
            </a:r>
          </a:p>
        </p:txBody>
      </p:sp>
      <p:sp>
        <p:nvSpPr>
          <p:cNvPr id="9" name="文字-9-正文、表格与附件分散">
            <a:extLst xmlns:a="http://schemas.openxmlformats.org/drawingml/2006/main">
              <a:ext uri="{FF2B5EF4-FFF2-40B4-BE49-F238E27FC236}">
                <a16:creationId xmlns:a16="http://schemas.microsoft.com/office/drawing/2014/main" id="{96CF2446-A4C3-49CC-BAAA-F681EDFCB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628775"/>
            <a:ext cx="2028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正文、表格与附件分散</a:t>
            </a:r>
          </a:p>
        </p:txBody>
      </p:sp>
      <p:sp>
        <p:nvSpPr>
          <p:cNvPr id="10" name="文档-10">
            <a:extLst xmlns:a="http://schemas.openxmlformats.org/drawingml/2006/main">
              <a:ext uri="{FF2B5EF4-FFF2-40B4-BE49-F238E27FC236}">
                <a16:creationId xmlns:a16="http://schemas.microsoft.com/office/drawing/2014/main" id="{03538878-D297-4923-8805-886FE39A9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14525"/>
            <a:ext cx="552450" cy="552450"/>
          </a:xfrm>
          <a:custGeom xmlns:a="http://schemas.openxmlformats.org/drawingml/2006/main">
            <a:pathLst>
              <a:path w="552450" h="552450">
                <a:moveTo>
                  <a:pt x="0" y="0"/>
                </a:moveTo>
                <a:lnTo>
                  <a:pt x="447675" y="0"/>
                </a:lnTo>
                <a:lnTo>
                  <a:pt x="552450" y="104775"/>
                </a:lnTo>
                <a:lnTo>
                  <a:pt x="552450" y="552450"/>
                </a:lnTo>
                <a:lnTo>
                  <a:pt x="0" y="55245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55DA5"/>
            </a:solidFill>
            <a:prstDash val="solid"/>
          </a:ln>
        </p:spPr>
      </p:sp>
      <p:sp>
        <p:nvSpPr>
          <p:cNvPr id="11" name="图形-11">
            <a:extLst xmlns:a="http://schemas.openxmlformats.org/drawingml/2006/main">
              <a:ext uri="{FF2B5EF4-FFF2-40B4-BE49-F238E27FC236}">
                <a16:creationId xmlns:a16="http://schemas.microsoft.com/office/drawing/2014/main" id="{EC74DBFB-2FA5-479C-A48C-C4A65EF72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3475" y="1914525"/>
            <a:ext cx="0" cy="104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5DA5"/>
            </a:solidFill>
            <a:prstDash val="solid"/>
          </a:ln>
        </p:spPr>
      </p:sp>
      <p:sp>
        <p:nvSpPr>
          <p:cNvPr id="12" name="图形-12">
            <a:extLst xmlns:a="http://schemas.openxmlformats.org/drawingml/2006/main">
              <a:ext uri="{FF2B5EF4-FFF2-40B4-BE49-F238E27FC236}">
                <a16:creationId xmlns:a16="http://schemas.microsoft.com/office/drawing/2014/main" id="{DDD5B2B1-AB40-4D0C-9EC7-E1199E9DE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3475" y="2019300"/>
            <a:ext cx="104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5DA5"/>
            </a:solidFill>
            <a:prstDash val="solid"/>
          </a:ln>
        </p:spPr>
      </p:sp>
      <p:sp>
        <p:nvSpPr>
          <p:cNvPr id="13" name="文字-13-可研正文">
            <a:extLst xmlns:a="http://schemas.openxmlformats.org/drawingml/2006/main">
              <a:ext uri="{FF2B5EF4-FFF2-40B4-BE49-F238E27FC236}">
                <a16:creationId xmlns:a16="http://schemas.microsoft.com/office/drawing/2014/main" id="{2FA044AC-219D-441C-BF2C-61033EB24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28825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125" b="1">
                <a:solidFill>
                  <a:srgbClr val="155D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155DA5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55DA5"/>
                </a:solidFill>
                <a:latin typeface="微软雅黑"/>
                <a:ea typeface="微软雅黑"/>
                <a:cs typeface="微软雅黑"/>
              </a:rPr>
              <a:t>可研</a:t>
            </a:r>
          </a:p>
          <a:p xmlns:a="http://schemas.openxmlformats.org/drawingml/2006/main">
            <a:pPr algn="ctr">
              <a:defRPr sz="1125" b="1">
                <a:solidFill>
                  <a:srgbClr val="155DA5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55DA5"/>
                </a:solidFill>
                <a:latin typeface="微软雅黑"/>
                <a:ea typeface="微软雅黑"/>
                <a:cs typeface="微软雅黑"/>
              </a:rPr>
              <a:t>正文</a:t>
            </a:r>
          </a:p>
        </p:txBody>
      </p:sp>
      <p:sp>
        <p:nvSpPr>
          <p:cNvPr id="14" name="文档-14">
            <a:extLst xmlns:a="http://schemas.openxmlformats.org/drawingml/2006/main">
              <a:ext uri="{FF2B5EF4-FFF2-40B4-BE49-F238E27FC236}">
                <a16:creationId xmlns:a16="http://schemas.microsoft.com/office/drawing/2014/main" id="{756C7EB4-C025-43F7-A839-FF41FB34E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1914525"/>
            <a:ext cx="552450" cy="552450"/>
          </a:xfrm>
          <a:custGeom xmlns:a="http://schemas.openxmlformats.org/drawingml/2006/main">
            <a:pathLst>
              <a:path w="552450" h="552450">
                <a:moveTo>
                  <a:pt x="0" y="0"/>
                </a:moveTo>
                <a:lnTo>
                  <a:pt x="447675" y="0"/>
                </a:lnTo>
                <a:lnTo>
                  <a:pt x="552450" y="104775"/>
                </a:lnTo>
                <a:lnTo>
                  <a:pt x="552450" y="552450"/>
                </a:lnTo>
                <a:lnTo>
                  <a:pt x="0" y="55245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55DA5"/>
            </a:solidFill>
            <a:prstDash val="solid"/>
          </a:ln>
        </p:spPr>
      </p:sp>
      <p:sp>
        <p:nvSpPr>
          <p:cNvPr id="15" name="图形-15">
            <a:extLst xmlns:a="http://schemas.openxmlformats.org/drawingml/2006/main">
              <a:ext uri="{FF2B5EF4-FFF2-40B4-BE49-F238E27FC236}">
                <a16:creationId xmlns:a16="http://schemas.microsoft.com/office/drawing/2014/main" id="{B929839A-E9C4-41CA-83A5-E1FF235F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90700" y="1914525"/>
            <a:ext cx="0" cy="104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5DA5"/>
            </a:solidFill>
            <a:prstDash val="solid"/>
          </a:ln>
        </p:spPr>
      </p:sp>
      <p:sp>
        <p:nvSpPr>
          <p:cNvPr id="16" name="图形-16">
            <a:extLst xmlns:a="http://schemas.openxmlformats.org/drawingml/2006/main">
              <a:ext uri="{FF2B5EF4-FFF2-40B4-BE49-F238E27FC236}">
                <a16:creationId xmlns:a16="http://schemas.microsoft.com/office/drawing/2014/main" id="{3A92D7E6-1A17-4A7E-BF81-66DE910CD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90700" y="2019300"/>
            <a:ext cx="104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5DA5"/>
            </a:solidFill>
            <a:prstDash val="solid"/>
          </a:ln>
        </p:spPr>
      </p:sp>
      <p:sp>
        <p:nvSpPr>
          <p:cNvPr id="17" name="文字-17-预算表格">
            <a:extLst xmlns:a="http://schemas.openxmlformats.org/drawingml/2006/main">
              <a:ext uri="{FF2B5EF4-FFF2-40B4-BE49-F238E27FC236}">
                <a16:creationId xmlns:a16="http://schemas.microsoft.com/office/drawing/2014/main" id="{2D0A4A04-A206-4D25-9B20-4CC5C3AB7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028825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125" b="1">
                <a:solidFill>
                  <a:srgbClr val="155D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155DA5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55DA5"/>
                </a:solidFill>
                <a:latin typeface="微软雅黑"/>
                <a:ea typeface="微软雅黑"/>
                <a:cs typeface="微软雅黑"/>
              </a:rPr>
              <a:t>预算</a:t>
            </a:r>
          </a:p>
          <a:p xmlns:a="http://schemas.openxmlformats.org/drawingml/2006/main">
            <a:pPr algn="ctr">
              <a:defRPr sz="1125" b="1">
                <a:solidFill>
                  <a:srgbClr val="155DA5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55DA5"/>
                </a:solidFill>
                <a:latin typeface="微软雅黑"/>
                <a:ea typeface="微软雅黑"/>
                <a:cs typeface="微软雅黑"/>
              </a:rPr>
              <a:t>表格</a:t>
            </a:r>
          </a:p>
        </p:txBody>
      </p:sp>
      <p:sp>
        <p:nvSpPr>
          <p:cNvPr id="18" name="文档-18">
            <a:extLst xmlns:a="http://schemas.openxmlformats.org/drawingml/2006/main">
              <a:ext uri="{FF2B5EF4-FFF2-40B4-BE49-F238E27FC236}">
                <a16:creationId xmlns:a16="http://schemas.microsoft.com/office/drawing/2014/main" id="{BF94A4AF-77D0-4447-A873-325CAA46A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914525"/>
            <a:ext cx="552450" cy="552450"/>
          </a:xfrm>
          <a:custGeom xmlns:a="http://schemas.openxmlformats.org/drawingml/2006/main">
            <a:pathLst>
              <a:path w="552450" h="552450">
                <a:moveTo>
                  <a:pt x="0" y="0"/>
                </a:moveTo>
                <a:lnTo>
                  <a:pt x="447675" y="0"/>
                </a:lnTo>
                <a:lnTo>
                  <a:pt x="552450" y="104775"/>
                </a:lnTo>
                <a:lnTo>
                  <a:pt x="552450" y="552450"/>
                </a:lnTo>
                <a:lnTo>
                  <a:pt x="0" y="55245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55DA5"/>
            </a:solidFill>
            <a:prstDash val="solid"/>
          </a:ln>
        </p:spPr>
      </p:sp>
      <p:sp>
        <p:nvSpPr>
          <p:cNvPr id="19" name="图形-19">
            <a:extLst xmlns:a="http://schemas.openxmlformats.org/drawingml/2006/main">
              <a:ext uri="{FF2B5EF4-FFF2-40B4-BE49-F238E27FC236}">
                <a16:creationId xmlns:a16="http://schemas.microsoft.com/office/drawing/2014/main" id="{EF6BBFE6-E979-439D-AFD9-83A669E6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447925" y="1914525"/>
            <a:ext cx="0" cy="104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5DA5"/>
            </a:solidFill>
            <a:prstDash val="solid"/>
          </a:ln>
        </p:spPr>
      </p:sp>
      <p:sp>
        <p:nvSpPr>
          <p:cNvPr id="20" name="图形-20">
            <a:extLst xmlns:a="http://schemas.openxmlformats.org/drawingml/2006/main">
              <a:ext uri="{FF2B5EF4-FFF2-40B4-BE49-F238E27FC236}">
                <a16:creationId xmlns:a16="http://schemas.microsoft.com/office/drawing/2014/main" id="{98FE51BC-89D3-4014-88F6-7E0003707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447925" y="2019300"/>
            <a:ext cx="104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5DA5"/>
            </a:solidFill>
            <a:prstDash val="solid"/>
          </a:ln>
        </p:spPr>
      </p:sp>
      <p:sp>
        <p:nvSpPr>
          <p:cNvPr id="21" name="文字-21-政策附件">
            <a:extLst xmlns:a="http://schemas.openxmlformats.org/drawingml/2006/main">
              <a:ext uri="{FF2B5EF4-FFF2-40B4-BE49-F238E27FC236}">
                <a16:creationId xmlns:a16="http://schemas.microsoft.com/office/drawing/2014/main" id="{160E0099-6D98-4002-BF2D-F979C3E31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2028825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125" b="1">
                <a:solidFill>
                  <a:srgbClr val="155D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155DA5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55DA5"/>
                </a:solidFill>
                <a:latin typeface="微软雅黑"/>
                <a:ea typeface="微软雅黑"/>
                <a:cs typeface="微软雅黑"/>
              </a:rPr>
              <a:t>政策</a:t>
            </a:r>
          </a:p>
          <a:p xmlns:a="http://schemas.openxmlformats.org/drawingml/2006/main">
            <a:pPr algn="ctr">
              <a:defRPr sz="1125" b="1">
                <a:solidFill>
                  <a:srgbClr val="155DA5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55DA5"/>
                </a:solidFill>
                <a:latin typeface="微软雅黑"/>
                <a:ea typeface="微软雅黑"/>
                <a:cs typeface="微软雅黑"/>
              </a:rPr>
              <a:t>附件</a:t>
            </a:r>
          </a:p>
        </p:txBody>
      </p:sp>
      <p:sp>
        <p:nvSpPr>
          <p:cNvPr id="22" name="图形-22">
            <a:extLst xmlns:a="http://schemas.openxmlformats.org/drawingml/2006/main">
              <a:ext uri="{FF2B5EF4-FFF2-40B4-BE49-F238E27FC236}">
                <a16:creationId xmlns:a16="http://schemas.microsoft.com/office/drawing/2014/main" id="{D09B8C41-0D53-467B-A938-C7990C613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62025" y="2476500"/>
            <a:ext cx="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55DA5"/>
            </a:solidFill>
            <a:prstDash val="solid"/>
          </a:ln>
        </p:spPr>
      </p:sp>
      <p:sp>
        <p:nvSpPr>
          <p:cNvPr id="23" name="图形-23">
            <a:extLst xmlns:a="http://schemas.openxmlformats.org/drawingml/2006/main">
              <a:ext uri="{FF2B5EF4-FFF2-40B4-BE49-F238E27FC236}">
                <a16:creationId xmlns:a16="http://schemas.microsoft.com/office/drawing/2014/main" id="{2A0091D9-4C7E-4EFB-8000-989ECDC22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619250" y="2476500"/>
            <a:ext cx="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55DA5"/>
            </a:solidFill>
            <a:prstDash val="solid"/>
          </a:ln>
        </p:spPr>
      </p:sp>
      <p:sp>
        <p:nvSpPr>
          <p:cNvPr id="24" name="图形-24">
            <a:extLst xmlns:a="http://schemas.openxmlformats.org/drawingml/2006/main">
              <a:ext uri="{FF2B5EF4-FFF2-40B4-BE49-F238E27FC236}">
                <a16:creationId xmlns:a16="http://schemas.microsoft.com/office/drawing/2014/main" id="{43DA1BEE-ED10-4E8F-A8CE-5BD576B6A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276475" y="2476500"/>
            <a:ext cx="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55DA5"/>
            </a:solidFill>
            <a:prstDash val="solid"/>
          </a:ln>
        </p:spPr>
      </p:sp>
      <p:sp>
        <p:nvSpPr>
          <p:cNvPr id="25" name="图形-25">
            <a:extLst xmlns:a="http://schemas.openxmlformats.org/drawingml/2006/main">
              <a:ext uri="{FF2B5EF4-FFF2-40B4-BE49-F238E27FC236}">
                <a16:creationId xmlns:a16="http://schemas.microsoft.com/office/drawing/2014/main" id="{36DBA1BF-5979-4192-8090-08B452A39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62025" y="2562225"/>
            <a:ext cx="131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55DA5"/>
            </a:solidFill>
            <a:prstDash val="solid"/>
          </a:ln>
        </p:spPr>
      </p:sp>
      <p:sp>
        <p:nvSpPr>
          <p:cNvPr id="26" name="图形-26">
            <a:extLst xmlns:a="http://schemas.openxmlformats.org/drawingml/2006/main">
              <a:ext uri="{FF2B5EF4-FFF2-40B4-BE49-F238E27FC236}">
                <a16:creationId xmlns:a16="http://schemas.microsoft.com/office/drawing/2014/main" id="{9C05E17E-596D-4D0D-B570-0C7215DEA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562225"/>
            <a:ext cx="228600" cy="1238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55D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文字-27-逐项翻阅、人工比对">
            <a:extLst xmlns:a="http://schemas.openxmlformats.org/drawingml/2006/main">
              <a:ext uri="{FF2B5EF4-FFF2-40B4-BE49-F238E27FC236}">
                <a16:creationId xmlns:a16="http://schemas.microsoft.com/office/drawing/2014/main" id="{41DA1480-5BAE-47EF-9FCF-22E4BE88E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686050"/>
            <a:ext cx="18764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A53533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A535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A53533"/>
                </a:solidFill>
                <a:latin typeface="微软雅黑"/>
                <a:ea typeface="微软雅黑"/>
                <a:cs typeface="微软雅黑"/>
              </a:rPr>
              <a:t>逐项翻阅、人工比对</a:t>
            </a:r>
          </a:p>
        </p:txBody>
      </p:sp>
      <p:sp>
        <p:nvSpPr>
          <p:cNvPr id="28" name="文字-28-跨章节对应关系复杂">
            <a:extLst xmlns:a="http://schemas.openxmlformats.org/drawingml/2006/main">
              <a:ext uri="{FF2B5EF4-FFF2-40B4-BE49-F238E27FC236}">
                <a16:creationId xmlns:a16="http://schemas.microsoft.com/office/drawing/2014/main" id="{04758006-EAEE-47C2-908E-455363B80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1247775"/>
            <a:ext cx="3810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跨章节对应关系复杂</a:t>
            </a:r>
          </a:p>
        </p:txBody>
      </p:sp>
      <p:sp>
        <p:nvSpPr>
          <p:cNvPr id="29" name="文字-29-建设依据">
            <a:extLst xmlns:a="http://schemas.openxmlformats.org/drawingml/2006/main">
              <a:ext uri="{FF2B5EF4-FFF2-40B4-BE49-F238E27FC236}">
                <a16:creationId xmlns:a16="http://schemas.microsoft.com/office/drawing/2014/main" id="{9B10B6FC-676C-4B57-BB27-03D7CC8A5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1809750"/>
            <a:ext cx="66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C0FF"/>
          </a:solidFill>
          <a:ln xmlns:a="http://schemas.openxmlformats.org/drawingml/2006/main" w="9525">
            <a:solidFill>
              <a:srgbClr val="101843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00" b="0">
                <a:solidFill>
                  <a:srgbClr val="101843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10184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01843"/>
                </a:solidFill>
                <a:latin typeface="微软雅黑"/>
                <a:ea typeface="微软雅黑"/>
                <a:cs typeface="微软雅黑"/>
              </a:rPr>
              <a:t>建设依据</a:t>
            </a:r>
          </a:p>
        </p:txBody>
      </p:sp>
      <p:sp>
        <p:nvSpPr>
          <p:cNvPr id="30" name="文字-30-建设内容">
            <a:extLst xmlns:a="http://schemas.openxmlformats.org/drawingml/2006/main">
              <a:ext uri="{FF2B5EF4-FFF2-40B4-BE49-F238E27FC236}">
                <a16:creationId xmlns:a16="http://schemas.microsoft.com/office/drawing/2014/main" id="{40BECA30-9705-4DC7-807D-1251FA15D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809750"/>
            <a:ext cx="66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FF"/>
          </a:solidFill>
          <a:ln xmlns:a="http://schemas.openxmlformats.org/drawingml/2006/main" w="9525">
            <a:solidFill>
              <a:srgbClr val="101843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00" b="0">
                <a:solidFill>
                  <a:srgbClr val="101843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10184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01843"/>
                </a:solidFill>
                <a:latin typeface="微软雅黑"/>
                <a:ea typeface="微软雅黑"/>
                <a:cs typeface="微软雅黑"/>
              </a:rPr>
              <a:t>建设内容</a:t>
            </a:r>
          </a:p>
        </p:txBody>
      </p:sp>
      <p:sp>
        <p:nvSpPr>
          <p:cNvPr id="31" name="文字-31-业务需求">
            <a:extLst xmlns:a="http://schemas.openxmlformats.org/drawingml/2006/main">
              <a:ext uri="{FF2B5EF4-FFF2-40B4-BE49-F238E27FC236}">
                <a16:creationId xmlns:a16="http://schemas.microsoft.com/office/drawing/2014/main" id="{1DA7C95E-83AF-4432-9226-C1CE7B98D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809750"/>
            <a:ext cx="66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C0FF"/>
          </a:solidFill>
          <a:ln xmlns:a="http://schemas.openxmlformats.org/drawingml/2006/main" w="9525">
            <a:solidFill>
              <a:srgbClr val="101843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00" b="0">
                <a:solidFill>
                  <a:srgbClr val="101843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10184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01843"/>
                </a:solidFill>
                <a:latin typeface="微软雅黑"/>
                <a:ea typeface="微软雅黑"/>
                <a:cs typeface="微软雅黑"/>
              </a:rPr>
              <a:t>业务需求</a:t>
            </a:r>
          </a:p>
        </p:txBody>
      </p:sp>
      <p:sp>
        <p:nvSpPr>
          <p:cNvPr id="32" name="文字-32-系统功能">
            <a:extLst xmlns:a="http://schemas.openxmlformats.org/drawingml/2006/main">
              <a:ext uri="{FF2B5EF4-FFF2-40B4-BE49-F238E27FC236}">
                <a16:creationId xmlns:a16="http://schemas.microsoft.com/office/drawing/2014/main" id="{D24A78AC-D32A-40FD-B676-74DEEBB29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809750"/>
            <a:ext cx="66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FF"/>
          </a:solidFill>
          <a:ln xmlns:a="http://schemas.openxmlformats.org/drawingml/2006/main" w="9525">
            <a:solidFill>
              <a:srgbClr val="101843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00" b="0">
                <a:solidFill>
                  <a:srgbClr val="101843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10184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01843"/>
                </a:solidFill>
                <a:latin typeface="微软雅黑"/>
                <a:ea typeface="微软雅黑"/>
                <a:cs typeface="微软雅黑"/>
              </a:rPr>
              <a:t>系统功能</a:t>
            </a:r>
          </a:p>
        </p:txBody>
      </p:sp>
      <p:sp>
        <p:nvSpPr>
          <p:cNvPr id="33" name="文字-33-功能清单">
            <a:extLst xmlns:a="http://schemas.openxmlformats.org/drawingml/2006/main">
              <a:ext uri="{FF2B5EF4-FFF2-40B4-BE49-F238E27FC236}">
                <a16:creationId xmlns:a16="http://schemas.microsoft.com/office/drawing/2014/main" id="{A34D69D6-F2F0-41D4-BAFF-34577962B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809750"/>
            <a:ext cx="66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C0FF"/>
          </a:solidFill>
          <a:ln xmlns:a="http://schemas.openxmlformats.org/drawingml/2006/main" w="9525">
            <a:solidFill>
              <a:srgbClr val="101843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00" b="0">
                <a:solidFill>
                  <a:srgbClr val="101843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10184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01843"/>
                </a:solidFill>
                <a:latin typeface="微软雅黑"/>
                <a:ea typeface="微软雅黑"/>
                <a:cs typeface="微软雅黑"/>
              </a:rPr>
              <a:t>功能清单</a:t>
            </a:r>
          </a:p>
        </p:txBody>
      </p:sp>
      <p:sp>
        <p:nvSpPr>
          <p:cNvPr id="34" name="图形-34">
            <a:extLst xmlns:a="http://schemas.openxmlformats.org/drawingml/2006/main">
              <a:ext uri="{FF2B5EF4-FFF2-40B4-BE49-F238E27FC236}">
                <a16:creationId xmlns:a16="http://schemas.microsoft.com/office/drawing/2014/main" id="{F4517398-D48E-4FE6-9FB3-D1158D8CE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943100"/>
            <a:ext cx="66675" cy="133350"/>
          </a:xfrm>
          <a:prstGeom xmlns:a="http://schemas.openxmlformats.org/drawingml/2006/main" prst="rightArrow">
            <a:avLst/>
          </a:prstGeom>
          <a:gradFill xmlns:a="http://schemas.openxmlformats.org/drawingml/2006/main">
            <a:gsLst>
              <a:gs pos="0">
                <a:srgbClr val="A8C9EA"/>
              </a:gs>
              <a:gs pos="100000">
                <a:srgbClr val="155DA5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5" name="图形-35">
            <a:extLst xmlns:a="http://schemas.openxmlformats.org/drawingml/2006/main">
              <a:ext uri="{FF2B5EF4-FFF2-40B4-BE49-F238E27FC236}">
                <a16:creationId xmlns:a16="http://schemas.microsoft.com/office/drawing/2014/main" id="{C650FC9A-E7B0-4B8C-8942-C9D8C6D9F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943100"/>
            <a:ext cx="66675" cy="133350"/>
          </a:xfrm>
          <a:prstGeom xmlns:a="http://schemas.openxmlformats.org/drawingml/2006/main" prst="rightArrow">
            <a:avLst/>
          </a:prstGeom>
          <a:gradFill xmlns:a="http://schemas.openxmlformats.org/drawingml/2006/main">
            <a:gsLst>
              <a:gs pos="0">
                <a:srgbClr val="A8C9EA"/>
              </a:gs>
              <a:gs pos="100000">
                <a:srgbClr val="155DA5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6" name="图形-36">
            <a:extLst xmlns:a="http://schemas.openxmlformats.org/drawingml/2006/main">
              <a:ext uri="{FF2B5EF4-FFF2-40B4-BE49-F238E27FC236}">
                <a16:creationId xmlns:a16="http://schemas.microsoft.com/office/drawing/2014/main" id="{0B21A9FB-7091-4E7B-B394-E0BEFB86E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86375" y="2009775"/>
            <a:ext cx="104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A53533"/>
            </a:solidFill>
            <a:prstDash val="dash"/>
          </a:ln>
        </p:spPr>
      </p:sp>
      <p:sp>
        <p:nvSpPr>
          <p:cNvPr id="37" name="文字-37-×">
            <a:extLst xmlns:a="http://schemas.openxmlformats.org/drawingml/2006/main">
              <a:ext uri="{FF2B5EF4-FFF2-40B4-BE49-F238E27FC236}">
                <a16:creationId xmlns:a16="http://schemas.microsoft.com/office/drawing/2014/main" id="{65A26F9C-9105-4705-9BAE-AB10C07F8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809750"/>
            <a:ext cx="190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A53533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A5353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A53533"/>
                </a:solidFill>
                <a:latin typeface="微软雅黑"/>
                <a:ea typeface="微软雅黑"/>
                <a:cs typeface="微软雅黑"/>
              </a:rPr>
              <a:t>×</a:t>
            </a:r>
          </a:p>
        </p:txBody>
      </p:sp>
      <p:sp>
        <p:nvSpPr>
          <p:cNvPr id="38" name="图形-38">
            <a:extLst xmlns:a="http://schemas.openxmlformats.org/drawingml/2006/main">
              <a:ext uri="{FF2B5EF4-FFF2-40B4-BE49-F238E27FC236}">
                <a16:creationId xmlns:a16="http://schemas.microsoft.com/office/drawing/2014/main" id="{29314FCA-6EEE-4D1B-925F-8BE08603A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943100"/>
            <a:ext cx="66675" cy="133350"/>
          </a:xfrm>
          <a:prstGeom xmlns:a="http://schemas.openxmlformats.org/drawingml/2006/main" prst="rightArrow">
            <a:avLst/>
          </a:prstGeom>
          <a:gradFill xmlns:a="http://schemas.openxmlformats.org/drawingml/2006/main">
            <a:gsLst>
              <a:gs pos="0">
                <a:srgbClr val="A8C9EA"/>
              </a:gs>
              <a:gs pos="100000">
                <a:srgbClr val="155DA5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9" name="文字-39-用户管理">
            <a:extLst xmlns:a="http://schemas.openxmlformats.org/drawingml/2006/main">
              <a:ext uri="{FF2B5EF4-FFF2-40B4-BE49-F238E27FC236}">
                <a16:creationId xmlns:a16="http://schemas.microsoft.com/office/drawing/2014/main" id="{A48FBBFC-AA4C-4C52-9A95-31E293ACE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419350"/>
            <a:ext cx="11144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12383">
            <a:solidFill>
              <a:srgbClr val="A53533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用户管理</a:t>
            </a:r>
          </a:p>
        </p:txBody>
      </p:sp>
      <p:sp>
        <p:nvSpPr>
          <p:cNvPr id="40" name="文字-40-用户管理">
            <a:extLst xmlns:a="http://schemas.openxmlformats.org/drawingml/2006/main">
              <a:ext uri="{FF2B5EF4-FFF2-40B4-BE49-F238E27FC236}">
                <a16:creationId xmlns:a16="http://schemas.microsoft.com/office/drawing/2014/main" id="{C176443E-4284-4797-B37B-FD4F426EE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19350"/>
            <a:ext cx="11144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12383">
            <a:solidFill>
              <a:srgbClr val="A53533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用户管理</a:t>
            </a:r>
          </a:p>
        </p:txBody>
      </p:sp>
      <p:sp>
        <p:nvSpPr>
          <p:cNvPr id="41" name="文字-41-疑似重复">
            <a:extLst xmlns:a="http://schemas.openxmlformats.org/drawingml/2006/main">
              <a:ext uri="{FF2B5EF4-FFF2-40B4-BE49-F238E27FC236}">
                <a16:creationId xmlns:a16="http://schemas.microsoft.com/office/drawing/2014/main" id="{60935F24-7CF0-4CD2-96AD-01D80EFD5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41935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A53533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A53533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A53533"/>
                </a:solidFill>
                <a:latin typeface="微软雅黑"/>
                <a:ea typeface="微软雅黑"/>
                <a:cs typeface="微软雅黑"/>
              </a:rPr>
              <a:t>疑似重复</a:t>
            </a:r>
          </a:p>
        </p:txBody>
      </p:sp>
      <p:sp>
        <p:nvSpPr>
          <p:cNvPr id="42" name="文字-42-关联核对量大，缺项与重复难发现">
            <a:extLst xmlns:a="http://schemas.openxmlformats.org/drawingml/2006/main">
              <a:ext uri="{FF2B5EF4-FFF2-40B4-BE49-F238E27FC236}">
                <a16:creationId xmlns:a16="http://schemas.microsoft.com/office/drawing/2014/main" id="{E125156E-81AF-4F17-9B9E-6932E668F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752725"/>
            <a:ext cx="381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13" b="1">
                <a:solidFill>
                  <a:srgbClr val="A53533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313" b="1">
                <a:solidFill>
                  <a:srgbClr val="A53533"/>
                </a:solidFill>
                <a:latin typeface="微软雅黑"/>
                <a:ea typeface="微软雅黑"/>
                <a:cs typeface="微软雅黑"/>
              </a:defRPr>
            </a:pPr>
            <a:r>
              <a:rPr sz="1313" b="1">
                <a:solidFill>
                  <a:srgbClr val="A53533"/>
                </a:solidFill>
                <a:latin typeface="微软雅黑"/>
                <a:ea typeface="微软雅黑"/>
                <a:cs typeface="微软雅黑"/>
              </a:rPr>
              <a:t>关联核对量大，缺项与重复难发现</a:t>
            </a:r>
          </a:p>
        </p:txBody>
      </p:sp>
      <p:sp>
        <p:nvSpPr>
          <p:cNvPr id="43" name="文字-43-依据分散，结果难追溯">
            <a:extLst xmlns:a="http://schemas.openxmlformats.org/drawingml/2006/main">
              <a:ext uri="{FF2B5EF4-FFF2-40B4-BE49-F238E27FC236}">
                <a16:creationId xmlns:a16="http://schemas.microsoft.com/office/drawing/2014/main" id="{43A098D8-E790-4F82-84C4-AE4B071CD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257300"/>
            <a:ext cx="38004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依据分散，结果难追溯</a:t>
            </a:r>
          </a:p>
        </p:txBody>
      </p:sp>
      <p:sp>
        <p:nvSpPr>
          <p:cNvPr id="44" name="文档-44">
            <a:extLst xmlns:a="http://schemas.openxmlformats.org/drawingml/2006/main">
              <a:ext uri="{FF2B5EF4-FFF2-40B4-BE49-F238E27FC236}">
                <a16:creationId xmlns:a16="http://schemas.microsoft.com/office/drawing/2014/main" id="{43D8B828-1DA9-4BE8-B472-91F09F1B5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1809750"/>
            <a:ext cx="609600" cy="571500"/>
          </a:xfrm>
          <a:custGeom xmlns:a="http://schemas.openxmlformats.org/drawingml/2006/main">
            <a:pathLst>
              <a:path w="609600" h="571500">
                <a:moveTo>
                  <a:pt x="0" y="0"/>
                </a:moveTo>
                <a:lnTo>
                  <a:pt x="504825" y="0"/>
                </a:lnTo>
                <a:lnTo>
                  <a:pt x="609600" y="104775"/>
                </a:lnTo>
                <a:lnTo>
                  <a:pt x="609600" y="571500"/>
                </a:lnTo>
                <a:lnTo>
                  <a:pt x="0" y="5715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55DA5"/>
            </a:solidFill>
            <a:prstDash val="solid"/>
          </a:ln>
        </p:spPr>
      </p:sp>
      <p:sp>
        <p:nvSpPr>
          <p:cNvPr id="45" name="图形-45">
            <a:extLst xmlns:a="http://schemas.openxmlformats.org/drawingml/2006/main">
              <a:ext uri="{FF2B5EF4-FFF2-40B4-BE49-F238E27FC236}">
                <a16:creationId xmlns:a16="http://schemas.microsoft.com/office/drawing/2014/main" id="{016B7286-3326-469D-9278-7F7F77C01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905750" y="1809750"/>
            <a:ext cx="0" cy="104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5DA5"/>
            </a:solidFill>
            <a:prstDash val="solid"/>
          </a:ln>
        </p:spPr>
      </p:sp>
      <p:sp>
        <p:nvSpPr>
          <p:cNvPr id="46" name="图形-46">
            <a:extLst xmlns:a="http://schemas.openxmlformats.org/drawingml/2006/main">
              <a:ext uri="{FF2B5EF4-FFF2-40B4-BE49-F238E27FC236}">
                <a16:creationId xmlns:a16="http://schemas.microsoft.com/office/drawing/2014/main" id="{6ADF6163-FFBC-4FB8-AB0B-28B32FEE9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905750" y="1914525"/>
            <a:ext cx="104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5DA5"/>
            </a:solidFill>
            <a:prstDash val="solid"/>
          </a:ln>
        </p:spPr>
      </p:sp>
      <p:sp>
        <p:nvSpPr>
          <p:cNvPr id="47" name="文字-47-市级规则">
            <a:extLst xmlns:a="http://schemas.openxmlformats.org/drawingml/2006/main">
              <a:ext uri="{FF2B5EF4-FFF2-40B4-BE49-F238E27FC236}">
                <a16:creationId xmlns:a16="http://schemas.microsoft.com/office/drawing/2014/main" id="{AD92C9D4-F068-461C-BCFE-708A73637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92405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125" b="1">
                <a:solidFill>
                  <a:srgbClr val="155D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155DA5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55DA5"/>
                </a:solidFill>
                <a:latin typeface="微软雅黑"/>
                <a:ea typeface="微软雅黑"/>
                <a:cs typeface="微软雅黑"/>
              </a:rPr>
              <a:t>市级</a:t>
            </a:r>
          </a:p>
          <a:p xmlns:a="http://schemas.openxmlformats.org/drawingml/2006/main">
            <a:pPr algn="ctr">
              <a:defRPr sz="1125" b="1">
                <a:solidFill>
                  <a:srgbClr val="155DA5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55DA5"/>
                </a:solidFill>
                <a:latin typeface="微软雅黑"/>
                <a:ea typeface="微软雅黑"/>
                <a:cs typeface="微软雅黑"/>
              </a:rPr>
              <a:t>规则</a:t>
            </a:r>
          </a:p>
        </p:txBody>
      </p:sp>
      <p:sp>
        <p:nvSpPr>
          <p:cNvPr id="48" name="文档-48">
            <a:extLst xmlns:a="http://schemas.openxmlformats.org/drawingml/2006/main">
              <a:ext uri="{FF2B5EF4-FFF2-40B4-BE49-F238E27FC236}">
                <a16:creationId xmlns:a16="http://schemas.microsoft.com/office/drawing/2014/main" id="{6A78319A-D3F4-4ADB-A9C1-C7A865F83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09750"/>
            <a:ext cx="609600" cy="571500"/>
          </a:xfrm>
          <a:custGeom xmlns:a="http://schemas.openxmlformats.org/drawingml/2006/main">
            <a:pathLst>
              <a:path w="609600" h="571500">
                <a:moveTo>
                  <a:pt x="0" y="0"/>
                </a:moveTo>
                <a:lnTo>
                  <a:pt x="504825" y="0"/>
                </a:lnTo>
                <a:lnTo>
                  <a:pt x="609600" y="104775"/>
                </a:lnTo>
                <a:lnTo>
                  <a:pt x="609600" y="571500"/>
                </a:lnTo>
                <a:lnTo>
                  <a:pt x="0" y="5715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55DA5"/>
            </a:solidFill>
            <a:prstDash val="solid"/>
          </a:ln>
        </p:spPr>
      </p:sp>
      <p:sp>
        <p:nvSpPr>
          <p:cNvPr id="49" name="图形-49">
            <a:extLst xmlns:a="http://schemas.openxmlformats.org/drawingml/2006/main">
              <a:ext uri="{FF2B5EF4-FFF2-40B4-BE49-F238E27FC236}">
                <a16:creationId xmlns:a16="http://schemas.microsoft.com/office/drawing/2014/main" id="{742B9B09-773F-47A9-B68E-2BC3743C6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620125" y="1809750"/>
            <a:ext cx="0" cy="104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5DA5"/>
            </a:solidFill>
            <a:prstDash val="solid"/>
          </a:ln>
        </p:spPr>
      </p:sp>
      <p:sp>
        <p:nvSpPr>
          <p:cNvPr id="50" name="图形-50">
            <a:extLst xmlns:a="http://schemas.openxmlformats.org/drawingml/2006/main">
              <a:ext uri="{FF2B5EF4-FFF2-40B4-BE49-F238E27FC236}">
                <a16:creationId xmlns:a16="http://schemas.microsoft.com/office/drawing/2014/main" id="{10BF70F0-3572-4AB4-92A7-3CCECA5F9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620125" y="1914525"/>
            <a:ext cx="104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5DA5"/>
            </a:solidFill>
            <a:prstDash val="solid"/>
          </a:ln>
        </p:spPr>
      </p:sp>
      <p:sp>
        <p:nvSpPr>
          <p:cNvPr id="51" name="文字-51-区级规则">
            <a:extLst xmlns:a="http://schemas.openxmlformats.org/drawingml/2006/main">
              <a:ext uri="{FF2B5EF4-FFF2-40B4-BE49-F238E27FC236}">
                <a16:creationId xmlns:a16="http://schemas.microsoft.com/office/drawing/2014/main" id="{DB036774-3840-46E6-BB9E-E29F9978A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92405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125" b="1">
                <a:solidFill>
                  <a:srgbClr val="155D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155DA5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55DA5"/>
                </a:solidFill>
                <a:latin typeface="微软雅黑"/>
                <a:ea typeface="微软雅黑"/>
                <a:cs typeface="微软雅黑"/>
              </a:rPr>
              <a:t>区级</a:t>
            </a:r>
          </a:p>
          <a:p xmlns:a="http://schemas.openxmlformats.org/drawingml/2006/main">
            <a:pPr algn="ctr">
              <a:defRPr sz="1125" b="1">
                <a:solidFill>
                  <a:srgbClr val="155DA5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55DA5"/>
                </a:solidFill>
                <a:latin typeface="微软雅黑"/>
                <a:ea typeface="微软雅黑"/>
                <a:cs typeface="微软雅黑"/>
              </a:rPr>
              <a:t>规则</a:t>
            </a:r>
          </a:p>
        </p:txBody>
      </p:sp>
      <p:sp>
        <p:nvSpPr>
          <p:cNvPr id="52" name="文档-52">
            <a:extLst xmlns:a="http://schemas.openxmlformats.org/drawingml/2006/main">
              <a:ext uri="{FF2B5EF4-FFF2-40B4-BE49-F238E27FC236}">
                <a16:creationId xmlns:a16="http://schemas.microsoft.com/office/drawing/2014/main" id="{EFDBE207-06BB-4A3E-80CC-85E822CE6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809750"/>
            <a:ext cx="609600" cy="571500"/>
          </a:xfrm>
          <a:custGeom xmlns:a="http://schemas.openxmlformats.org/drawingml/2006/main">
            <a:pathLst>
              <a:path w="609600" h="571500">
                <a:moveTo>
                  <a:pt x="0" y="0"/>
                </a:moveTo>
                <a:lnTo>
                  <a:pt x="504825" y="0"/>
                </a:lnTo>
                <a:lnTo>
                  <a:pt x="609600" y="104775"/>
                </a:lnTo>
                <a:lnTo>
                  <a:pt x="609600" y="571500"/>
                </a:lnTo>
                <a:lnTo>
                  <a:pt x="0" y="5715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55DA5"/>
            </a:solidFill>
            <a:prstDash val="solid"/>
          </a:ln>
        </p:spPr>
      </p:sp>
      <p:sp>
        <p:nvSpPr>
          <p:cNvPr id="53" name="图形-53">
            <a:extLst xmlns:a="http://schemas.openxmlformats.org/drawingml/2006/main">
              <a:ext uri="{FF2B5EF4-FFF2-40B4-BE49-F238E27FC236}">
                <a16:creationId xmlns:a16="http://schemas.microsoft.com/office/drawing/2014/main" id="{FAC09EFD-0DB4-41FD-94E9-2D50C623C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334500" y="1809750"/>
            <a:ext cx="0" cy="104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5DA5"/>
            </a:solidFill>
            <a:prstDash val="solid"/>
          </a:ln>
        </p:spPr>
      </p:sp>
      <p:sp>
        <p:nvSpPr>
          <p:cNvPr id="54" name="图形-54">
            <a:extLst xmlns:a="http://schemas.openxmlformats.org/drawingml/2006/main">
              <a:ext uri="{FF2B5EF4-FFF2-40B4-BE49-F238E27FC236}">
                <a16:creationId xmlns:a16="http://schemas.microsoft.com/office/drawing/2014/main" id="{382C04A2-2B46-4108-8AC6-5BE5C70EE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334500" y="1914525"/>
            <a:ext cx="104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5DA5"/>
            </a:solidFill>
            <a:prstDash val="solid"/>
          </a:ln>
        </p:spPr>
      </p:sp>
      <p:sp>
        <p:nvSpPr>
          <p:cNvPr id="55" name="文字-55-政策文件">
            <a:extLst xmlns:a="http://schemas.openxmlformats.org/drawingml/2006/main">
              <a:ext uri="{FF2B5EF4-FFF2-40B4-BE49-F238E27FC236}">
                <a16:creationId xmlns:a16="http://schemas.microsoft.com/office/drawing/2014/main" id="{EB393B77-4C01-4F68-B937-A3C47E099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2405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125" b="1">
                <a:solidFill>
                  <a:srgbClr val="155D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155DA5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55DA5"/>
                </a:solidFill>
                <a:latin typeface="微软雅黑"/>
                <a:ea typeface="微软雅黑"/>
                <a:cs typeface="微软雅黑"/>
              </a:rPr>
              <a:t>政策</a:t>
            </a:r>
          </a:p>
          <a:p xmlns:a="http://schemas.openxmlformats.org/drawingml/2006/main">
            <a:pPr algn="ctr">
              <a:defRPr sz="1125" b="1">
                <a:solidFill>
                  <a:srgbClr val="155DA5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55DA5"/>
                </a:solidFill>
                <a:latin typeface="微软雅黑"/>
                <a:ea typeface="微软雅黑"/>
                <a:cs typeface="微软雅黑"/>
              </a:rPr>
              <a:t>文件</a:t>
            </a:r>
          </a:p>
        </p:txBody>
      </p:sp>
      <p:sp>
        <p:nvSpPr>
          <p:cNvPr id="56" name="图形-56">
            <a:extLst xmlns:a="http://schemas.openxmlformats.org/drawingml/2006/main">
              <a:ext uri="{FF2B5EF4-FFF2-40B4-BE49-F238E27FC236}">
                <a16:creationId xmlns:a16="http://schemas.microsoft.com/office/drawing/2014/main" id="{EBF4EE0C-67DA-487E-B12A-D592FA21F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1981200"/>
            <a:ext cx="190500" cy="238125"/>
          </a:xfrm>
          <a:prstGeom xmlns:a="http://schemas.openxmlformats.org/drawingml/2006/main" prst="rightArrow">
            <a:avLst/>
          </a:prstGeom>
          <a:gradFill xmlns:a="http://schemas.openxmlformats.org/drawingml/2006/main">
            <a:gsLst>
              <a:gs pos="0">
                <a:srgbClr val="A8C9EA"/>
              </a:gs>
              <a:gs pos="100000">
                <a:srgbClr val="155DA5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57" name="文字-57-审查意见">
            <a:extLst xmlns:a="http://schemas.openxmlformats.org/drawingml/2006/main">
              <a:ext uri="{FF2B5EF4-FFF2-40B4-BE49-F238E27FC236}">
                <a16:creationId xmlns:a16="http://schemas.microsoft.com/office/drawing/2014/main" id="{AEBFCBAC-2E35-447A-9D07-062372346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1790700"/>
            <a:ext cx="12573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101843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审查意见</a:t>
            </a:r>
          </a:p>
        </p:txBody>
      </p:sp>
      <p:sp>
        <p:nvSpPr>
          <p:cNvPr id="58" name="文字-58-问题描述修改意见">
            <a:extLst xmlns:a="http://schemas.openxmlformats.org/drawingml/2006/main">
              <a:ext uri="{FF2B5EF4-FFF2-40B4-BE49-F238E27FC236}">
                <a16:creationId xmlns:a16="http://schemas.microsoft.com/office/drawing/2014/main" id="{69A1DD88-A4B9-45B4-B58B-48D0EDDC7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085975"/>
            <a:ext cx="1257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01843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问题描述</a:t>
            </a:r>
          </a:p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修改意见</a:t>
            </a:r>
          </a:p>
        </p:txBody>
      </p:sp>
      <p:sp>
        <p:nvSpPr>
          <p:cNvPr id="59" name="文字-59-原文位置  ？    命中规则  ？">
            <a:extLst xmlns:a="http://schemas.openxmlformats.org/drawingml/2006/main">
              <a:ext uri="{FF2B5EF4-FFF2-40B4-BE49-F238E27FC236}">
                <a16:creationId xmlns:a16="http://schemas.microsoft.com/office/drawing/2014/main" id="{37F712DC-E30E-41B5-A984-30DDA6AB1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571750"/>
            <a:ext cx="3590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A53533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A53533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A53533"/>
                </a:solidFill>
                <a:latin typeface="微软雅黑"/>
                <a:ea typeface="微软雅黑"/>
                <a:cs typeface="微软雅黑"/>
              </a:rPr>
              <a:t>原文位置  ？    命中规则  ？</a:t>
            </a:r>
          </a:p>
        </p:txBody>
      </p:sp>
      <p:sp>
        <p:nvSpPr>
          <p:cNvPr id="60" name="文字-60-审查口径难统一，复核留痕不足">
            <a:extLst xmlns:a="http://schemas.openxmlformats.org/drawingml/2006/main">
              <a:ext uri="{FF2B5EF4-FFF2-40B4-BE49-F238E27FC236}">
                <a16:creationId xmlns:a16="http://schemas.microsoft.com/office/drawing/2014/main" id="{3F69B257-A9F7-42B8-9D2E-2399D1EDF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771775"/>
            <a:ext cx="3790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13" b="1">
                <a:solidFill>
                  <a:srgbClr val="A53533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313" b="1">
                <a:solidFill>
                  <a:srgbClr val="A53533"/>
                </a:solidFill>
                <a:latin typeface="微软雅黑"/>
                <a:ea typeface="微软雅黑"/>
                <a:cs typeface="微软雅黑"/>
              </a:defRPr>
            </a:pPr>
            <a:r>
              <a:rPr sz="1313" b="1">
                <a:solidFill>
                  <a:srgbClr val="A53533"/>
                </a:solidFill>
                <a:latin typeface="微软雅黑"/>
                <a:ea typeface="微软雅黑"/>
                <a:cs typeface="微软雅黑"/>
              </a:rPr>
              <a:t>审查口径难统一，复核留痕不足</a:t>
            </a:r>
          </a:p>
        </p:txBody>
      </p:sp>
      <p:sp>
        <p:nvSpPr>
          <p:cNvPr id="61" name="文字-61-审查难">
            <a:extLst xmlns:a="http://schemas.openxmlformats.org/drawingml/2006/main">
              <a:ext uri="{FF2B5EF4-FFF2-40B4-BE49-F238E27FC236}">
                <a16:creationId xmlns:a16="http://schemas.microsoft.com/office/drawing/2014/main" id="{979F67D4-2BB4-4796-A4D5-E379F07E6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1200150"/>
            <a:ext cx="42862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DA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审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查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难</a:t>
            </a:r>
          </a:p>
        </p:txBody>
      </p:sp>
      <p:sp>
        <p:nvSpPr>
          <p:cNvPr id="62" name="文字-62-统一规则牵引分项检查，以原文证据支撑可追溯、可复核的辅助审查">
            <a:extLst xmlns:a="http://schemas.openxmlformats.org/drawingml/2006/main">
              <a:ext uri="{FF2B5EF4-FFF2-40B4-BE49-F238E27FC236}">
                <a16:creationId xmlns:a16="http://schemas.microsoft.com/office/drawing/2014/main" id="{3B26120C-DC8E-4C62-BEC7-A8C27DEB8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95625"/>
            <a:ext cx="11239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DA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统一规则牵引分项检查，以原文证据支撑可追溯、可复核的辅助审查</a:t>
            </a:r>
          </a:p>
        </p:txBody>
      </p:sp>
      <p:sp>
        <p:nvSpPr>
          <p:cNvPr id="63" name="图形-63">
            <a:extLst xmlns:a="http://schemas.openxmlformats.org/drawingml/2006/main">
              <a:ext uri="{FF2B5EF4-FFF2-40B4-BE49-F238E27FC236}">
                <a16:creationId xmlns:a16="http://schemas.microsoft.com/office/drawing/2014/main" id="{F601CE1E-49B2-4EF8-B4DE-3520DD22A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81425"/>
            <a:ext cx="1123950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A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文字-64-总体思想">
            <a:extLst xmlns:a="http://schemas.openxmlformats.org/drawingml/2006/main">
              <a:ext uri="{FF2B5EF4-FFF2-40B4-BE49-F238E27FC236}">
                <a16:creationId xmlns:a16="http://schemas.microsoft.com/office/drawing/2014/main" id="{E830BE7A-0FCE-4389-8E8F-26CE11649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81425"/>
            <a:ext cx="657225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DA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总</a:t>
            </a:r>
          </a:p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体</a:t>
            </a:r>
          </a:p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思</a:t>
            </a:r>
          </a:p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想</a:t>
            </a:r>
          </a:p>
        </p:txBody>
      </p:sp>
      <p:sp>
        <p:nvSpPr>
          <p:cNvPr id="65" name="图形-65">
            <a:extLst xmlns:a="http://schemas.openxmlformats.org/drawingml/2006/main">
              <a:ext uri="{FF2B5EF4-FFF2-40B4-BE49-F238E27FC236}">
                <a16:creationId xmlns:a16="http://schemas.microsoft.com/office/drawing/2014/main" id="{C76E5E47-B389-42E4-BF23-FD6D2821F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857625"/>
            <a:ext cx="103441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D9D9"/>
            </a:solidFill>
            <a:prstDash val="solid"/>
          </a:ln>
        </p:spPr>
      </p:sp>
      <p:sp>
        <p:nvSpPr>
          <p:cNvPr id="66" name="文字-66-规则驱动与智能体协同检查">
            <a:extLst xmlns:a="http://schemas.openxmlformats.org/drawingml/2006/main">
              <a:ext uri="{FF2B5EF4-FFF2-40B4-BE49-F238E27FC236}">
                <a16:creationId xmlns:a16="http://schemas.microsoft.com/office/drawing/2014/main" id="{9A0A1D77-DECA-4D88-A8E3-9D7E1ADB7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943350"/>
            <a:ext cx="6438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规则驱动与智能体协同检查</a:t>
            </a:r>
          </a:p>
        </p:txBody>
      </p:sp>
      <p:sp>
        <p:nvSpPr>
          <p:cNvPr id="67" name="文字-67-原文证据与人工复核">
            <a:extLst xmlns:a="http://schemas.openxmlformats.org/drawingml/2006/main">
              <a:ext uri="{FF2B5EF4-FFF2-40B4-BE49-F238E27FC236}">
                <a16:creationId xmlns:a16="http://schemas.microsoft.com/office/drawing/2014/main" id="{03415482-8D6F-4441-9340-DBEE35D68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943350"/>
            <a:ext cx="31718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原文证据与人工复核</a:t>
            </a:r>
          </a:p>
        </p:txBody>
      </p:sp>
      <p:sp>
        <p:nvSpPr>
          <p:cNvPr id="68" name="文字-68-规则库网站">
            <a:extLst xmlns:a="http://schemas.openxmlformats.org/drawingml/2006/main">
              <a:ext uri="{FF2B5EF4-FFF2-40B4-BE49-F238E27FC236}">
                <a16:creationId xmlns:a16="http://schemas.microsoft.com/office/drawing/2014/main" id="{0D606E1E-C6BE-4555-8447-57FEEE51E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52925"/>
            <a:ext cx="1647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DA5"/>
          </a:solidFill>
          <a:ln xmlns:a="http://schemas.openxmlformats.org/drawingml/2006/main" w="9525">
            <a:solidFill>
              <a:srgbClr val="101843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规则库网站</a:t>
            </a:r>
          </a:p>
        </p:txBody>
      </p:sp>
      <p:sp>
        <p:nvSpPr>
          <p:cNvPr id="69" name="文字-69-市级 / 区级判断标准审核、版本与操作日志">
            <a:extLst xmlns:a="http://schemas.openxmlformats.org/drawingml/2006/main">
              <a:ext uri="{FF2B5EF4-FFF2-40B4-BE49-F238E27FC236}">
                <a16:creationId xmlns:a16="http://schemas.microsoft.com/office/drawing/2014/main" id="{7423335B-EF6C-47EF-9EAC-FFFD6961A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619625"/>
            <a:ext cx="16478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01843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市级 / 区级判断标准</a:t>
            </a:r>
          </a:p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审核、版本与操作日志</a:t>
            </a:r>
          </a:p>
        </p:txBody>
      </p:sp>
      <p:sp>
        <p:nvSpPr>
          <p:cNvPr id="70" name="图形-70">
            <a:extLst xmlns:a="http://schemas.openxmlformats.org/drawingml/2006/main">
              <a:ext uri="{FF2B5EF4-FFF2-40B4-BE49-F238E27FC236}">
                <a16:creationId xmlns:a16="http://schemas.microsoft.com/office/drawing/2014/main" id="{EF93DB83-8D14-4FF9-A95F-DEEC0C8A6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095625" y="4695825"/>
            <a:ext cx="1485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55DA5"/>
            </a:solidFill>
            <a:prstDash val="solid"/>
          </a:ln>
        </p:spPr>
      </p:sp>
      <p:sp>
        <p:nvSpPr>
          <p:cNvPr id="71" name="图形-71">
            <a:extLst xmlns:a="http://schemas.openxmlformats.org/drawingml/2006/main">
              <a:ext uri="{FF2B5EF4-FFF2-40B4-BE49-F238E27FC236}">
                <a16:creationId xmlns:a16="http://schemas.microsoft.com/office/drawing/2014/main" id="{250D850F-D696-41C5-9BA2-E5A576923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619625"/>
            <a:ext cx="171450" cy="161925"/>
          </a:xfrm>
          <a:prstGeom xmlns:a="http://schemas.openxmlformats.org/drawingml/2006/main" prst="rightArrow">
            <a:avLst/>
          </a:prstGeom>
          <a:gradFill xmlns:a="http://schemas.openxmlformats.org/drawingml/2006/main">
            <a:gsLst>
              <a:gs pos="0">
                <a:srgbClr val="A8C9EA"/>
              </a:gs>
              <a:gs pos="100000">
                <a:srgbClr val="155DA5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72" name="文字-72-统一规则调用">
            <a:extLst xmlns:a="http://schemas.openxmlformats.org/drawingml/2006/main">
              <a:ext uri="{FF2B5EF4-FFF2-40B4-BE49-F238E27FC236}">
                <a16:creationId xmlns:a16="http://schemas.microsoft.com/office/drawing/2014/main" id="{1153DCAF-9EEB-4BCF-9375-E0E897BEF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429125"/>
            <a:ext cx="1371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155D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55DA5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55DA5"/>
                </a:solidFill>
                <a:latin typeface="微软雅黑"/>
                <a:ea typeface="微软雅黑"/>
                <a:cs typeface="微软雅黑"/>
              </a:rPr>
              <a:t>统一规则调用</a:t>
            </a:r>
          </a:p>
        </p:txBody>
      </p:sp>
      <p:sp>
        <p:nvSpPr>
          <p:cNvPr id="73" name="文字-73-桌面端应用">
            <a:extLst xmlns:a="http://schemas.openxmlformats.org/drawingml/2006/main">
              <a:ext uri="{FF2B5EF4-FFF2-40B4-BE49-F238E27FC236}">
                <a16:creationId xmlns:a16="http://schemas.microsoft.com/office/drawing/2014/main" id="{80A5FC35-104B-4B95-B3D0-E0670B595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48300"/>
            <a:ext cx="16478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DA5"/>
          </a:solidFill>
          <a:ln xmlns:a="http://schemas.openxmlformats.org/drawingml/2006/main" w="9525">
            <a:solidFill>
              <a:srgbClr val="101843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桌面端应用</a:t>
            </a:r>
          </a:p>
        </p:txBody>
      </p:sp>
      <p:sp>
        <p:nvSpPr>
          <p:cNvPr id="74" name="文字-74-报告上传、任务配置">
            <a:extLst xmlns:a="http://schemas.openxmlformats.org/drawingml/2006/main">
              <a:ext uri="{FF2B5EF4-FFF2-40B4-BE49-F238E27FC236}">
                <a16:creationId xmlns:a16="http://schemas.microsoft.com/office/drawing/2014/main" id="{73162D99-726B-4D23-9A04-E82BFCB69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705475"/>
            <a:ext cx="16478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01843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报告上传、任务配置</a:t>
            </a:r>
          </a:p>
        </p:txBody>
      </p:sp>
      <p:sp>
        <p:nvSpPr>
          <p:cNvPr id="75" name="图形-75">
            <a:extLst xmlns:a="http://schemas.openxmlformats.org/drawingml/2006/main">
              <a:ext uri="{FF2B5EF4-FFF2-40B4-BE49-F238E27FC236}">
                <a16:creationId xmlns:a16="http://schemas.microsoft.com/office/drawing/2014/main" id="{D4C68150-9BCE-463D-BF6E-E0AE56ABE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5648325"/>
            <a:ext cx="209550" cy="209550"/>
          </a:xfrm>
          <a:prstGeom xmlns:a="http://schemas.openxmlformats.org/drawingml/2006/main" prst="rightArrow">
            <a:avLst/>
          </a:prstGeom>
          <a:gradFill xmlns:a="http://schemas.openxmlformats.org/drawingml/2006/main">
            <a:gsLst>
              <a:gs pos="0">
                <a:srgbClr val="A8C9EA"/>
              </a:gs>
              <a:gs pos="100000">
                <a:srgbClr val="155DA5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76" name="文字-76-文档结构化">
            <a:extLst xmlns:a="http://schemas.openxmlformats.org/drawingml/2006/main">
              <a:ext uri="{FF2B5EF4-FFF2-40B4-BE49-F238E27FC236}">
                <a16:creationId xmlns:a16="http://schemas.microsoft.com/office/drawing/2014/main" id="{766BDAF3-13F4-474C-A74C-F4EBAC5E1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448300"/>
            <a:ext cx="1066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FF"/>
          </a:solidFill>
          <a:ln xmlns:a="http://schemas.openxmlformats.org/drawingml/2006/main" w="9525">
            <a:solidFill>
              <a:srgbClr val="101843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文档结构化</a:t>
            </a:r>
          </a:p>
        </p:txBody>
      </p:sp>
      <p:sp>
        <p:nvSpPr>
          <p:cNvPr id="77" name="文字-77-章节 / 表格功能点提取">
            <a:extLst xmlns:a="http://schemas.openxmlformats.org/drawingml/2006/main">
              <a:ext uri="{FF2B5EF4-FFF2-40B4-BE49-F238E27FC236}">
                <a16:creationId xmlns:a16="http://schemas.microsoft.com/office/drawing/2014/main" id="{4D61D672-08FE-4C14-B8C8-7F63EB796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705475"/>
            <a:ext cx="10668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01843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章节 / 表格</a:t>
            </a:r>
          </a:p>
          <a:p xmlns:a="http://schemas.openxmlformats.org/drawingml/2006/main">
            <a:pPr algn="ctr">
              <a:defRPr sz="105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功能点提取</a:t>
            </a:r>
          </a:p>
        </p:txBody>
      </p:sp>
      <p:sp>
        <p:nvSpPr>
          <p:cNvPr id="78" name="图形-78">
            <a:extLst xmlns:a="http://schemas.openxmlformats.org/drawingml/2006/main">
              <a:ext uri="{FF2B5EF4-FFF2-40B4-BE49-F238E27FC236}">
                <a16:creationId xmlns:a16="http://schemas.microsoft.com/office/drawing/2014/main" id="{3A57496F-6BB0-4D7B-9F51-F0041F4F0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648325"/>
            <a:ext cx="219075" cy="209550"/>
          </a:xfrm>
          <a:prstGeom xmlns:a="http://schemas.openxmlformats.org/drawingml/2006/main" prst="rightArrow">
            <a:avLst/>
          </a:prstGeom>
          <a:gradFill xmlns:a="http://schemas.openxmlformats.org/drawingml/2006/main">
            <a:gsLst>
              <a:gs pos="0">
                <a:srgbClr val="A8C9EA"/>
              </a:gs>
              <a:gs pos="100000">
                <a:srgbClr val="155DA5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79" name="图形-79">
            <a:extLst xmlns:a="http://schemas.openxmlformats.org/drawingml/2006/main">
              <a:ext uri="{FF2B5EF4-FFF2-40B4-BE49-F238E27FC236}">
                <a16:creationId xmlns:a16="http://schemas.microsoft.com/office/drawing/2014/main" id="{094E7E75-F57D-4C5E-B904-78B3EE44D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4333875"/>
            <a:ext cx="3209925" cy="1685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01843"/>
            </a:solidFill>
            <a:prstDash val="solid"/>
          </a:ln>
        </p:spPr>
      </p:sp>
      <p:sp>
        <p:nvSpPr>
          <p:cNvPr id="80" name="文字-80-专项检查智能体">
            <a:extLst xmlns:a="http://schemas.openxmlformats.org/drawingml/2006/main">
              <a:ext uri="{FF2B5EF4-FFF2-40B4-BE49-F238E27FC236}">
                <a16:creationId xmlns:a16="http://schemas.microsoft.com/office/drawing/2014/main" id="{AAEDC915-60B9-4D5F-868C-D91EA79F7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4333875"/>
            <a:ext cx="32099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DA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专项检查智能体</a:t>
            </a:r>
          </a:p>
        </p:txBody>
      </p:sp>
      <p:sp>
        <p:nvSpPr>
          <p:cNvPr id="81" name="文字-81-完整性检查">
            <a:extLst xmlns:a="http://schemas.openxmlformats.org/drawingml/2006/main">
              <a:ext uri="{FF2B5EF4-FFF2-40B4-BE49-F238E27FC236}">
                <a16:creationId xmlns:a16="http://schemas.microsoft.com/office/drawing/2014/main" id="{98D92946-653B-424F-A684-64E86AE93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714875"/>
            <a:ext cx="30003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101843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完整性检查</a:t>
            </a:r>
          </a:p>
        </p:txBody>
      </p:sp>
      <p:sp>
        <p:nvSpPr>
          <p:cNvPr id="82" name="文字-82-建设依据审查">
            <a:extLst xmlns:a="http://schemas.openxmlformats.org/drawingml/2006/main">
              <a:ext uri="{FF2B5EF4-FFF2-40B4-BE49-F238E27FC236}">
                <a16:creationId xmlns:a16="http://schemas.microsoft.com/office/drawing/2014/main" id="{A9EF4155-C8CD-440D-9671-C9F9A75B9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086350"/>
            <a:ext cx="1447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FF"/>
          </a:solidFill>
          <a:ln xmlns:a="http://schemas.openxmlformats.org/drawingml/2006/main" w="9525">
            <a:solidFill>
              <a:srgbClr val="101843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建设依据审查</a:t>
            </a:r>
          </a:p>
        </p:txBody>
      </p:sp>
      <p:sp>
        <p:nvSpPr>
          <p:cNvPr id="83" name="文字-83-重复建设检查">
            <a:extLst xmlns:a="http://schemas.openxmlformats.org/drawingml/2006/main">
              <a:ext uri="{FF2B5EF4-FFF2-40B4-BE49-F238E27FC236}">
                <a16:creationId xmlns:a16="http://schemas.microsoft.com/office/drawing/2014/main" id="{B090442E-502E-4A4D-A324-7C93E9013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086350"/>
            <a:ext cx="1447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FF"/>
          </a:solidFill>
          <a:ln xmlns:a="http://schemas.openxmlformats.org/drawingml/2006/main" w="9525">
            <a:solidFill>
              <a:srgbClr val="101843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重复建设检查</a:t>
            </a:r>
          </a:p>
        </p:txBody>
      </p:sp>
      <p:sp>
        <p:nvSpPr>
          <p:cNvPr id="84" name="文字-84-功能对应关系">
            <a:extLst xmlns:a="http://schemas.openxmlformats.org/drawingml/2006/main">
              <a:ext uri="{FF2B5EF4-FFF2-40B4-BE49-F238E27FC236}">
                <a16:creationId xmlns:a16="http://schemas.microsoft.com/office/drawing/2014/main" id="{35AB34B2-D961-4D20-A3AB-415C5C425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429250"/>
            <a:ext cx="1447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FF"/>
          </a:solidFill>
          <a:ln xmlns:a="http://schemas.openxmlformats.org/drawingml/2006/main" w="9525">
            <a:solidFill>
              <a:srgbClr val="101843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功能对应关系</a:t>
            </a:r>
          </a:p>
        </p:txBody>
      </p:sp>
      <p:sp>
        <p:nvSpPr>
          <p:cNvPr id="85" name="文字-85-敏感词检查">
            <a:extLst xmlns:a="http://schemas.openxmlformats.org/drawingml/2006/main">
              <a:ext uri="{FF2B5EF4-FFF2-40B4-BE49-F238E27FC236}">
                <a16:creationId xmlns:a16="http://schemas.microsoft.com/office/drawing/2014/main" id="{63E1CE44-9215-40C1-9258-9C6A04979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429250"/>
            <a:ext cx="1447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FF"/>
          </a:solidFill>
          <a:ln xmlns:a="http://schemas.openxmlformats.org/drawingml/2006/main" w="9525">
            <a:solidFill>
              <a:srgbClr val="101843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敏感词检查</a:t>
            </a:r>
          </a:p>
        </p:txBody>
      </p:sp>
      <p:sp>
        <p:nvSpPr>
          <p:cNvPr id="86" name="文字-86-规则校验  +  大模型语义复核">
            <a:extLst xmlns:a="http://schemas.openxmlformats.org/drawingml/2006/main">
              <a:ext uri="{FF2B5EF4-FFF2-40B4-BE49-F238E27FC236}">
                <a16:creationId xmlns:a16="http://schemas.microsoft.com/office/drawing/2014/main" id="{56BEA834-5C57-452E-ADBC-D103EA483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772150"/>
            <a:ext cx="3000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155D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55DA5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55DA5"/>
                </a:solidFill>
                <a:latin typeface="微软雅黑"/>
                <a:ea typeface="微软雅黑"/>
                <a:cs typeface="微软雅黑"/>
              </a:rPr>
              <a:t>规则校验  +  大模型语义复核</a:t>
            </a:r>
          </a:p>
        </p:txBody>
      </p:sp>
      <p:sp>
        <p:nvSpPr>
          <p:cNvPr id="87" name="文字-87-检测能力按业务需求逐步扩展">
            <a:extLst xmlns:a="http://schemas.openxmlformats.org/drawingml/2006/main">
              <a:ext uri="{FF2B5EF4-FFF2-40B4-BE49-F238E27FC236}">
                <a16:creationId xmlns:a16="http://schemas.microsoft.com/office/drawing/2014/main" id="{B800369B-7EC3-4CB7-A7D8-7B92AAA6B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96000"/>
            <a:ext cx="64484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125" b="0">
                <a:solidFill>
                  <a:srgbClr val="155D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125" b="0">
                <a:solidFill>
                  <a:srgbClr val="155DA5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55DA5"/>
                </a:solidFill>
                <a:latin typeface="微软雅黑"/>
                <a:ea typeface="微软雅黑"/>
                <a:cs typeface="微软雅黑"/>
              </a:rPr>
              <a:t>检测能力按业务需求逐步扩展</a:t>
            </a:r>
          </a:p>
        </p:txBody>
      </p:sp>
      <p:sp>
        <p:nvSpPr>
          <p:cNvPr id="88" name="图形-88">
            <a:extLst xmlns:a="http://schemas.openxmlformats.org/drawingml/2006/main">
              <a:ext uri="{FF2B5EF4-FFF2-40B4-BE49-F238E27FC236}">
                <a16:creationId xmlns:a16="http://schemas.microsoft.com/office/drawing/2014/main" id="{87A6C5B4-989C-4080-8A82-7F5F4D03F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000625"/>
            <a:ext cx="342900" cy="400050"/>
          </a:xfrm>
          <a:prstGeom xmlns:a="http://schemas.openxmlformats.org/drawingml/2006/main" prst="rightArrow">
            <a:avLst/>
          </a:prstGeom>
          <a:gradFill xmlns:a="http://schemas.openxmlformats.org/drawingml/2006/main">
            <a:gsLst>
              <a:gs pos="0">
                <a:srgbClr val="A8C9EA"/>
              </a:gs>
              <a:gs pos="100000">
                <a:srgbClr val="155DA5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89" name="图形-89">
            <a:extLst xmlns:a="http://schemas.openxmlformats.org/drawingml/2006/main">
              <a:ext uri="{FF2B5EF4-FFF2-40B4-BE49-F238E27FC236}">
                <a16:creationId xmlns:a16="http://schemas.microsoft.com/office/drawing/2014/main" id="{81908409-C23B-4E57-A7AF-78CCA4DC5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52925"/>
            <a:ext cx="30765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01843"/>
            </a:solidFill>
            <a:prstDash val="solid"/>
          </a:ln>
        </p:spPr>
      </p:sp>
      <p:sp>
        <p:nvSpPr>
          <p:cNvPr id="90" name="文字-90-示例：功能清单缺少对应项">
            <a:extLst xmlns:a="http://schemas.openxmlformats.org/drawingml/2006/main">
              <a:ext uri="{FF2B5EF4-FFF2-40B4-BE49-F238E27FC236}">
                <a16:creationId xmlns:a16="http://schemas.microsoft.com/office/drawing/2014/main" id="{780E66AE-0CD4-401A-8DB9-45D5B6EC2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429125"/>
            <a:ext cx="28860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A53533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A535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A53533"/>
                </a:solidFill>
                <a:latin typeface="微软雅黑"/>
                <a:ea typeface="微软雅黑"/>
                <a:cs typeface="微软雅黑"/>
              </a:rPr>
              <a:t>示例：功能清单缺少对应项</a:t>
            </a:r>
          </a:p>
        </p:txBody>
      </p:sp>
      <p:sp>
        <p:nvSpPr>
          <p:cNvPr id="91" name="文字-91-原文">
            <a:extLst xmlns:a="http://schemas.openxmlformats.org/drawingml/2006/main">
              <a:ext uri="{FF2B5EF4-FFF2-40B4-BE49-F238E27FC236}">
                <a16:creationId xmlns:a16="http://schemas.microsoft.com/office/drawing/2014/main" id="{C908F268-206D-4E99-A929-473A523F4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4800600"/>
            <a:ext cx="5048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DA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原文</a:t>
            </a:r>
          </a:p>
        </p:txBody>
      </p:sp>
      <p:sp>
        <p:nvSpPr>
          <p:cNvPr id="92" name="文字-92-建设内容列出“用户管理”">
            <a:extLst xmlns:a="http://schemas.openxmlformats.org/drawingml/2006/main">
              <a:ext uri="{FF2B5EF4-FFF2-40B4-BE49-F238E27FC236}">
                <a16:creationId xmlns:a16="http://schemas.microsoft.com/office/drawing/2014/main" id="{552C95D8-9D40-4ED0-965A-032DF6E0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800600"/>
            <a:ext cx="226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建设内容列出“用户管理”</a:t>
            </a:r>
          </a:p>
        </p:txBody>
      </p:sp>
      <p:sp>
        <p:nvSpPr>
          <p:cNvPr id="93" name="文字-93-规则">
            <a:extLst xmlns:a="http://schemas.openxmlformats.org/drawingml/2006/main">
              <a:ext uri="{FF2B5EF4-FFF2-40B4-BE49-F238E27FC236}">
                <a16:creationId xmlns:a16="http://schemas.microsoft.com/office/drawing/2014/main" id="{B1E229EF-BCE5-48DA-BBC6-73182E75A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5172075"/>
            <a:ext cx="5048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DA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规则</a:t>
            </a:r>
          </a:p>
        </p:txBody>
      </p:sp>
      <p:sp>
        <p:nvSpPr>
          <p:cNvPr id="94" name="文字-94-建设内容与功能清单应对应">
            <a:extLst xmlns:a="http://schemas.openxmlformats.org/drawingml/2006/main">
              <a:ext uri="{FF2B5EF4-FFF2-40B4-BE49-F238E27FC236}">
                <a16:creationId xmlns:a16="http://schemas.microsoft.com/office/drawing/2014/main" id="{821965AC-A770-432E-9B92-82E6B8DC8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72075"/>
            <a:ext cx="226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建设内容与功能清单应对应</a:t>
            </a:r>
          </a:p>
        </p:txBody>
      </p:sp>
      <p:sp>
        <p:nvSpPr>
          <p:cNvPr id="95" name="文字-95-建议">
            <a:extLst xmlns:a="http://schemas.openxmlformats.org/drawingml/2006/main">
              <a:ext uri="{FF2B5EF4-FFF2-40B4-BE49-F238E27FC236}">
                <a16:creationId xmlns:a16="http://schemas.microsoft.com/office/drawing/2014/main" id="{42F5EDCB-DAA5-43A2-BDC8-D9598B006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5543550"/>
            <a:ext cx="5048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DA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建议</a:t>
            </a:r>
          </a:p>
        </p:txBody>
      </p:sp>
      <p:sp>
        <p:nvSpPr>
          <p:cNvPr id="96" name="文字-96-补充功能项，核实对应关系">
            <a:extLst xmlns:a="http://schemas.openxmlformats.org/drawingml/2006/main">
              <a:ext uri="{FF2B5EF4-FFF2-40B4-BE49-F238E27FC236}">
                <a16:creationId xmlns:a16="http://schemas.microsoft.com/office/drawing/2014/main" id="{0EF9905C-E0A6-4C94-B312-FEBDAFD41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543550"/>
            <a:ext cx="226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补充功能项，核实对应关系</a:t>
            </a:r>
          </a:p>
        </p:txBody>
      </p:sp>
      <p:sp>
        <p:nvSpPr>
          <p:cNvPr id="97" name="文字-97-人工复核">
            <a:extLst xmlns:a="http://schemas.openxmlformats.org/drawingml/2006/main">
              <a:ext uri="{FF2B5EF4-FFF2-40B4-BE49-F238E27FC236}">
                <a16:creationId xmlns:a16="http://schemas.microsoft.com/office/drawing/2014/main" id="{56CC75EF-A8CE-42AE-AC50-B61566C8A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6048375"/>
            <a:ext cx="13049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C0FF"/>
          </a:solidFill>
          <a:ln xmlns:a="http://schemas.openxmlformats.org/drawingml/2006/main" w="11430">
            <a:solidFill>
              <a:srgbClr val="101843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人工复核</a:t>
            </a:r>
          </a:p>
        </p:txBody>
      </p:sp>
      <p:sp>
        <p:nvSpPr>
          <p:cNvPr id="98" name="图形-98">
            <a:extLst xmlns:a="http://schemas.openxmlformats.org/drawingml/2006/main">
              <a:ext uri="{FF2B5EF4-FFF2-40B4-BE49-F238E27FC236}">
                <a16:creationId xmlns:a16="http://schemas.microsoft.com/office/drawing/2014/main" id="{3B30627C-0D41-4CFC-B002-A37F72A8E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6096000"/>
            <a:ext cx="190500" cy="190500"/>
          </a:xfrm>
          <a:prstGeom xmlns:a="http://schemas.openxmlformats.org/drawingml/2006/main" prst="rightArrow">
            <a:avLst/>
          </a:prstGeom>
          <a:gradFill xmlns:a="http://schemas.openxmlformats.org/drawingml/2006/main">
            <a:gsLst>
              <a:gs pos="0">
                <a:srgbClr val="A8C9EA"/>
              </a:gs>
              <a:gs pos="100000">
                <a:srgbClr val="155DA5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99" name="文字-99-结果导出与留痕">
            <a:extLst xmlns:a="http://schemas.openxmlformats.org/drawingml/2006/main">
              <a:ext uri="{FF2B5EF4-FFF2-40B4-BE49-F238E27FC236}">
                <a16:creationId xmlns:a16="http://schemas.microsoft.com/office/drawing/2014/main" id="{B8357E4C-F253-4638-B2CA-71E7CC861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6048375"/>
            <a:ext cx="14763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FF"/>
          </a:solidFill>
          <a:ln xmlns:a="http://schemas.openxmlformats.org/drawingml/2006/main" w="11430">
            <a:solidFill>
              <a:srgbClr val="101843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结果导出与留痕</a:t>
            </a:r>
          </a:p>
        </p:txBody>
      </p:sp>
      <p:sp>
        <p:nvSpPr>
          <p:cNvPr id="100" name="文字-100-■  辅助检查提供问题线索与判断依据，审查结论经人工复核确认">
            <a:extLst xmlns:a="http://schemas.openxmlformats.org/drawingml/2006/main">
              <a:ext uri="{FF2B5EF4-FFF2-40B4-BE49-F238E27FC236}">
                <a16:creationId xmlns:a16="http://schemas.microsoft.com/office/drawing/2014/main" id="{6A385C71-863E-45FD-9345-C7DAFD24F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10763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■  辅助检查提供问题线索与判断依据，审查结论经人工复核确认</a:t>
            </a:r>
          </a:p>
        </p:txBody>
      </p:sp>
      <p:sp>
        <p:nvSpPr>
          <p:cNvPr id="101" name="文字-101-1">
            <a:extLst xmlns:a="http://schemas.openxmlformats.org/drawingml/2006/main">
              <a:ext uri="{FF2B5EF4-FFF2-40B4-BE49-F238E27FC236}">
                <a16:creationId xmlns:a16="http://schemas.microsoft.com/office/drawing/2014/main" id="{6B52797E-0DC6-4C00-B9C5-AE9B27BA3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6477000"/>
            <a:ext cx="19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88888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888888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888888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5616656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2026-10-11T06:05:36.1930000Z</dcterms:created>
  <dcterms:modified xsi:type="dcterms:W3CDTF">2026-10-11T06:05:36.1930000Z</dcterms:modified>
</coreProperties>
</file>