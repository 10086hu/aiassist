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11480" y="246888"/>
            <a:ext cx="804672" cy="521207"/>
          </a:xfrm>
          <a:prstGeom prst="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137160"/>
            <a:ext cx="78638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8365C"/>
                </a:solidFill>
                <a:latin typeface="微软雅黑"/>
              </a:rPr>
              <a:t>重复建设检查技术路线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46888"/>
            <a:ext cx="3657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0">
                <a:solidFill>
                  <a:srgbClr val="5B6B7A"/>
                </a:solidFill>
                <a:latin typeface="微软雅黑"/>
              </a:rPr>
              <a:t>可研报告智能审查助手 · Module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987552"/>
            <a:ext cx="14630400" cy="0"/>
          </a:xfrm>
          <a:prstGeom prst="line">
            <a:avLst/>
          </a:prstGeom>
          <a:ln w="17780">
            <a:solidFill>
              <a:srgbClr val="005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298448"/>
            <a:ext cx="13624560" cy="530352"/>
          </a:xfrm>
          <a:prstGeom prst="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62456"/>
            <a:ext cx="4114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规则内容与技术实现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4526280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0368" y="1965960"/>
            <a:ext cx="8897112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39696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08365C"/>
                </a:solidFill>
                <a:latin typeface="微软雅黑"/>
              </a:rPr>
              <a:t>规则名称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468879"/>
            <a:ext cx="4023360" cy="0"/>
          </a:xfrm>
          <a:prstGeom prst="line">
            <a:avLst/>
          </a:prstGeom>
          <a:ln w="10160">
            <a:solidFill>
              <a:srgbClr val="D9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487168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D3D"/>
                </a:solidFill>
                <a:latin typeface="微软雅黑"/>
              </a:rPr>
              <a:t>2.1 重复建设判断规则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44368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08365C"/>
                </a:solidFill>
                <a:latin typeface="微软雅黑"/>
              </a:rPr>
              <a:t>规则内容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3273552"/>
            <a:ext cx="4023360" cy="0"/>
          </a:xfrm>
          <a:prstGeom prst="line">
            <a:avLst/>
          </a:prstGeom>
          <a:ln w="10160">
            <a:solidFill>
              <a:srgbClr val="D9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3310128"/>
            <a:ext cx="38862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微软雅黑"/>
              </a:rPr>
              <a:t>抽取当前报告及关联报告的功能点、建设内容和系统能力，识别本报告内部重复，以及跨阶段重复申报或边界不清。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33672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08365C"/>
                </a:solidFill>
                <a:latin typeface="微软雅黑"/>
              </a:rPr>
              <a:t>判定重点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4562856"/>
            <a:ext cx="4023360" cy="0"/>
          </a:xfrm>
          <a:prstGeom prst="line">
            <a:avLst/>
          </a:prstGeom>
          <a:ln w="10160">
            <a:solidFill>
              <a:srgbClr val="D9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9808" y="4681728"/>
            <a:ext cx="73152" cy="73152"/>
          </a:xfrm>
          <a:prstGeom prst="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99432"/>
            <a:ext cx="3694176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/>
              </a:rPr>
              <a:t>同一能力的重复表述或重复申报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965192"/>
            <a:ext cx="73152" cy="73152"/>
          </a:xfrm>
          <a:prstGeom prst="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82896"/>
            <a:ext cx="3694176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/>
              </a:rPr>
              <a:t>相近功能的范围、层级与阶段边界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248656"/>
            <a:ext cx="73152" cy="73152"/>
          </a:xfrm>
          <a:prstGeom prst="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66360"/>
            <a:ext cx="3694176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F2D3D"/>
                </a:solidFill>
                <a:latin typeface="微软雅黑"/>
              </a:rPr>
              <a:t>输出证据、原因、风险和复核建议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468112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08365C"/>
                </a:solidFill>
                <a:latin typeface="微软雅黑"/>
              </a:rPr>
              <a:t>核心技术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5797296"/>
            <a:ext cx="4023360" cy="0"/>
          </a:xfrm>
          <a:prstGeom prst="line">
            <a:avLst/>
          </a:prstGeom>
          <a:ln w="10160">
            <a:solidFill>
              <a:srgbClr val="D9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463040" y="5559552"/>
            <a:ext cx="914400" cy="274320"/>
          </a:xfrm>
          <a:prstGeom prst="roundRect">
            <a:avLst/>
          </a:prstGeom>
          <a:solidFill>
            <a:srgbClr val="EAF2F9"/>
          </a:solidFill>
          <a:ln w="8890"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573268"/>
            <a:ext cx="91440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005AA0"/>
                </a:solidFill>
                <a:latin typeface="微软雅黑"/>
              </a:rPr>
              <a:t>文档解析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5559552"/>
            <a:ext cx="1170432" cy="274320"/>
          </a:xfrm>
          <a:prstGeom prst="roundRect">
            <a:avLst/>
          </a:prstGeom>
          <a:solidFill>
            <a:srgbClr val="EAF8F1"/>
          </a:solidFill>
          <a:ln w="8890"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573268"/>
            <a:ext cx="117043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2B7A4B"/>
                </a:solidFill>
                <a:latin typeface="微软雅黑"/>
              </a:rPr>
              <a:t>混合相似度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0752" y="5559552"/>
            <a:ext cx="841248" cy="274320"/>
          </a:xfrm>
          <a:prstGeom prst="roundRect">
            <a:avLst/>
          </a:prstGeom>
          <a:solidFill>
            <a:srgbClr val="FFF3E8"/>
          </a:solidFill>
          <a:ln w="8890">
            <a:solidFill>
              <a:srgbClr val="FF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5573268"/>
            <a:ext cx="84124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C45100"/>
                </a:solidFill>
                <a:latin typeface="微软雅黑"/>
              </a:rPr>
              <a:t>LLM复核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2139696"/>
            <a:ext cx="8138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08365C"/>
                </a:solidFill>
                <a:latin typeface="微软雅黑"/>
              </a:rPr>
              <a:t>规则（系统）实现方式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04688" y="2468879"/>
            <a:ext cx="8138160" cy="0"/>
          </a:xfrm>
          <a:prstGeom prst="line">
            <a:avLst/>
          </a:prstGeom>
          <a:ln w="10160">
            <a:solidFill>
              <a:srgbClr val="D9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04688" y="2587752"/>
            <a:ext cx="813816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32703" y="2697480"/>
            <a:ext cx="256032" cy="256032"/>
          </a:xfrm>
          <a:prstGeom prst="round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3" y="2702052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6752" y="2651760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输入与关联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2651760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当前报告 + 可选往期报告；记录项目、阶段和报告关系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04688" y="3099816"/>
            <a:ext cx="8138160" cy="475488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32703" y="3209544"/>
            <a:ext cx="256032" cy="256032"/>
          </a:xfrm>
          <a:prstGeom prst="round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32703" y="321411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163824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解析与抽取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3163824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DOCX/PDF/XLSX/CSV 解析，形成结构化功能点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04688" y="3611880"/>
            <a:ext cx="813816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32703" y="3721608"/>
            <a:ext cx="256032" cy="256032"/>
          </a:xfrm>
          <a:prstGeom prst="round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32703" y="3726180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3675888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候选筛选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088" y="3675888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向量、关键词、同义词混合相似度，阈值 0.50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688" y="4123944"/>
            <a:ext cx="8138160" cy="475488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32703" y="4233672"/>
            <a:ext cx="256032" cy="256032"/>
          </a:xfrm>
          <a:prstGeom prst="roundRect">
            <a:avLst/>
          </a:prstGeom>
          <a:solidFill>
            <a:srgbClr val="C45100"/>
          </a:solidFill>
          <a:ln w="8890">
            <a:solidFill>
              <a:srgbClr val="C4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32703" y="4238244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16752" y="4187952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语义复核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4187952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DeepSeek 判断：重复 / 高度相似 / 无关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04688" y="4636008"/>
            <a:ext cx="8138160" cy="475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632703" y="4745736"/>
            <a:ext cx="256032" cy="256032"/>
          </a:xfrm>
          <a:prstGeom prst="round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3" y="4750308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16752" y="4700016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双范围比对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62088" y="4700016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当前报告内部两两比对；当前 vs 往期跨报告比对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04688" y="5148072"/>
            <a:ext cx="8138160" cy="475488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9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632703" y="5257800"/>
            <a:ext cx="256032" cy="256032"/>
          </a:xfrm>
          <a:prstGeom prst="roundRect">
            <a:avLst/>
          </a:prstGeom>
          <a:solidFill>
            <a:srgbClr val="005AA0"/>
          </a:solidFill>
          <a:ln w="889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2703" y="5262372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5212080"/>
            <a:ext cx="16002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08365C"/>
                </a:solidFill>
                <a:latin typeface="微软雅黑"/>
              </a:rPr>
              <a:t>结果闭环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62088" y="5212080"/>
            <a:ext cx="5943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微软雅黑"/>
              </a:rPr>
              <a:t>入库 CheckResult，API 归一化，WPF 分组展示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6053328"/>
            <a:ext cx="13624560" cy="932688"/>
          </a:xfrm>
          <a:prstGeom prst="rect">
            <a:avLst/>
          </a:prstGeom>
          <a:solidFill>
            <a:srgbClr val="F4F8FC"/>
          </a:solidFill>
          <a:ln w="8890">
            <a:solidFill>
              <a:srgbClr val="F4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6199632"/>
            <a:ext cx="1188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08365C"/>
                </a:solidFill>
                <a:latin typeface="微软雅黑"/>
              </a:rPr>
              <a:t>输入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19" y="6172200"/>
            <a:ext cx="2423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微软雅黑"/>
              </a:rPr>
              <a:t>报告 / 功能点清单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74920" y="6199632"/>
            <a:ext cx="1188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08365C"/>
                </a:solidFill>
                <a:latin typeface="微软雅黑"/>
              </a:rPr>
              <a:t>处理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6172200"/>
            <a:ext cx="2880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微软雅黑"/>
              </a:rPr>
              <a:t>解析 → 抽取 → 筛选 → 复核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6920" y="6199632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08365C"/>
                </a:solidFill>
                <a:latin typeface="微软雅黑"/>
              </a:rPr>
              <a:t>输出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35640" y="617220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微软雅黑"/>
              </a:rPr>
              <a:t>疑似重复项 + 审查建议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WPS 演示</Application>
  <PresentationFormat>On-screen Show (4:3)</PresentationFormat>
  <Paragraphs>90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七条规则实现方式说明（升级版）</dc:title>
  <dc:creator>OpenAI</dc:creator>
  <dc:description>generated using python-pptx</dc:description>
  <dc:subject>组会汇报：规则内容、系统实现方式、关键技术与DeepSeek-R1语义复核</dc:subject>
  <cp:lastModifiedBy>听雪楼</cp:lastModifiedBy>
  <cp:revision>5</cp:revision>
  <dcterms:created xsi:type="dcterms:W3CDTF">2013-01-27T09:14:00Z</dcterms:created>
  <dcterms:modified xsi:type="dcterms:W3CDTF">2026-08-21T11:55:38Z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023D1475ECA848408AEFD56B33947959_12</vt:lpwstr>
  </property>
</Properties>
</file>